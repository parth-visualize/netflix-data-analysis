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al Black" panose="020B0A04020102020204" pitchFamily="34" charset="0"/>
      <p:bold r:id="rId19"/>
    </p:embeddedFont>
    <p:embeddedFont>
      <p:font typeface="Canva Sans" panose="020B0604020202020204" charset="0"/>
      <p:regular r:id="rId20"/>
    </p:embeddedFont>
    <p:embeddedFont>
      <p:font typeface="Montserrat Bold" panose="020B0604020202020204" charset="0"/>
      <p:regular r:id="rId21"/>
    </p:embeddedFont>
    <p:embeddedFont>
      <p:font typeface="Open Sans" panose="020B0606030504020204" pitchFamily="34" charset="0"/>
      <p:regular r:id="rId22"/>
    </p:embeddedFont>
    <p:embeddedFont>
      <p:font typeface="Open Sans Bold" panose="020B0806030504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32063C-0D75-431A-9CDE-BDBC32D42B4F}" v="11" dt="2026-03-08T08:31:11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arth" userId="13c2b044aa331e4b" providerId="LiveId" clId="{25E4AF37-A1DA-437C-BA88-8D03ADA97EBA}"/>
    <pc:docChg chg="modSld modMainMaster">
      <pc:chgData name="Mr. Parth" userId="13c2b044aa331e4b" providerId="LiveId" clId="{25E4AF37-A1DA-437C-BA88-8D03ADA97EBA}" dt="2026-03-08T08:31:11.305" v="27"/>
      <pc:docMkLst>
        <pc:docMk/>
      </pc:docMkLst>
      <pc:sldChg chg="modTransition">
        <pc:chgData name="Mr. Parth" userId="13c2b044aa331e4b" providerId="LiveId" clId="{25E4AF37-A1DA-437C-BA88-8D03ADA97EBA}" dt="2026-03-08T08:31:11.305" v="27"/>
        <pc:sldMkLst>
          <pc:docMk/>
          <pc:sldMk cId="0" sldId="256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57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58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59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60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61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62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63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64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65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66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67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68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69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70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71"/>
        </pc:sldMkLst>
      </pc:sldChg>
      <pc:sldChg chg="modTransition">
        <pc:chgData name="Mr. Parth" userId="13c2b044aa331e4b" providerId="LiveId" clId="{25E4AF37-A1DA-437C-BA88-8D03ADA97EBA}" dt="2026-03-08T08:30:57.718" v="26"/>
        <pc:sldMkLst>
          <pc:docMk/>
          <pc:sldMk cId="0" sldId="272"/>
        </pc:sldMkLst>
      </pc:sldChg>
      <pc:sldMasterChg chg="modTransition modSldLayout">
        <pc:chgData name="Mr. Parth" userId="13c2b044aa331e4b" providerId="LiveId" clId="{25E4AF37-A1DA-437C-BA88-8D03ADA97EBA}" dt="2026-03-08T08:30:57.718" v="26"/>
        <pc:sldMasterMkLst>
          <pc:docMk/>
          <pc:sldMasterMk cId="0" sldId="2147483648"/>
        </pc:sldMasterMkLst>
        <pc:sldLayoutChg chg="modTransition">
          <pc:chgData name="Mr. Parth" userId="13c2b044aa331e4b" providerId="LiveId" clId="{25E4AF37-A1DA-437C-BA88-8D03ADA97EBA}" dt="2026-03-08T08:30:57.718" v="26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Mr. Parth" userId="13c2b044aa331e4b" providerId="LiveId" clId="{25E4AF37-A1DA-437C-BA88-8D03ADA97EBA}" dt="2026-03-08T08:30:57.718" v="26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Mr. Parth" userId="13c2b044aa331e4b" providerId="LiveId" clId="{25E4AF37-A1DA-437C-BA88-8D03ADA97EBA}" dt="2026-03-08T08:30:57.718" v="26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Mr. Parth" userId="13c2b044aa331e4b" providerId="LiveId" clId="{25E4AF37-A1DA-437C-BA88-8D03ADA97EBA}" dt="2026-03-08T08:30:57.718" v="26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Mr. Parth" userId="13c2b044aa331e4b" providerId="LiveId" clId="{25E4AF37-A1DA-437C-BA88-8D03ADA97EBA}" dt="2026-03-08T08:30:57.718" v="26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Mr. Parth" userId="13c2b044aa331e4b" providerId="LiveId" clId="{25E4AF37-A1DA-437C-BA88-8D03ADA97EBA}" dt="2026-03-08T08:30:57.718" v="26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Mr. Parth" userId="13c2b044aa331e4b" providerId="LiveId" clId="{25E4AF37-A1DA-437C-BA88-8D03ADA97EBA}" dt="2026-03-08T08:30:57.718" v="26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Mr. Parth" userId="13c2b044aa331e4b" providerId="LiveId" clId="{25E4AF37-A1DA-437C-BA88-8D03ADA97EBA}" dt="2026-03-08T08:30:57.718" v="26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Mr. Parth" userId="13c2b044aa331e4b" providerId="LiveId" clId="{25E4AF37-A1DA-437C-BA88-8D03ADA97EBA}" dt="2026-03-08T08:30:57.718" v="26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Mr. Parth" userId="13c2b044aa331e4b" providerId="LiveId" clId="{25E4AF37-A1DA-437C-BA88-8D03ADA97EBA}" dt="2026-03-08T08:30:57.718" v="26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Mr. Parth" userId="13c2b044aa331e4b" providerId="LiveId" clId="{25E4AF37-A1DA-437C-BA88-8D03ADA97EBA}" dt="2026-03-08T08:30:57.718" v="2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11:14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394 207 24575,'-1'4'0,"0"0"0,0 0 0,-1 0 0,0 0 0,0 0 0,0 0 0,0-1 0,0 1 0,-5 5 0,-8 14 0,-4 24 0,-17 66 0,24-70 0,0 15 0,11-47 0,-1 0 0,0 0 0,-1 0 0,0-1 0,-1 1 0,0-1 0,0 1 0,-7 9 0,-1 0 0,5-10 0,13-29 0,18-39 0,2 0 0,52-83 0,-43 84 0,-3 1 0,2 1 0,3 2 0,81-90 0,-116 141 0,0 0 0,0 0 0,0 0 0,-1 0 0,1-1 0,-1 1 0,0 0 0,2-5 0,-5 1 0,-14 9 0,4 2 0,0 1 0,1 1 0,0 0 0,0 0 0,1 1 0,-19 17 0,11-6 0,1 2 0,-21 30 0,17-17 0,1 0 0,2 1 0,-25 69 0,29-71 0,-3 0 0,0-1 0,-34 45 0,15-23 0,-115 180 0,128-206 0,23-28 0,-1 1 0,1-1 0,-1 0 0,1 1 0,-1-1 0,1 0 0,-1 0 0,1 1 0,-1-1 0,1 0 0,-1 0 0,0 0 0,1 0 0,-1 0 0,1 0 0,-1 0 0,1 0 0,-1 0 0,0 0 0,1 0 0,-1 0 0,1 0 0,-1 0 0,1 0 0,-1 0 0,1-1 0,-1 1 0,0 0 0,1 0 0,-1-1 0,1 1 0,0 0 0,-1-1 0,1 1 0,-1-1 0,1 1 0,0-1 0,-1 1 0,1 0 0,0-1 0,-1 1 0,1-1 0,0 0 0,-1 1 0,1-1 0,0 1 0,0-1 0,0 1 0,0-1 0,0 1 0,0-1 0,0 0 0,0 1 0,0-1 0,0 0 0,-4-23 0,1-1 0,1 1 0,1 0 0,4-48 0,0 10 0,-2-306 0,-3 487 0,5 142 0,-3-259 0,0 1 0,1-1 0,-1 1 0,1-1 0,-1 0 0,1 1 0,0-1 0,0 0 0,0 1 0,0-1 0,0 0 0,0 0 0,0 0 0,1 0 0,-1 0 0,1 0 0,0 0 0,0-1 0,-1 1 0,1 0 0,0-1 0,5 3 0,-6-4 0,1 1 0,0-1 0,0 0 0,0 0 0,-1 0 0,1 0 0,0 0 0,0 0 0,0-1 0,-1 1 0,1 0 0,0-1 0,0 0 0,-1 1 0,1-1 0,0 0 0,-1 0 0,1 0 0,-1 0 0,1 0 0,-1 0 0,1 0 0,-1-1 0,0 1 0,0 0 0,1-1 0,-1 1 0,0-1 0,0 1 0,-1-1 0,2-3 0,11-21 0,-2-1 0,0 0 0,-2 0 0,10-57 0,-1 10 0,35-122 0,-46 162 0,-7 31 0,-1 4 0,-6 19 0,2 1-455,0 0 0,-2 26 0,4-17-6371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11:29.27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269 1199 24575,'-5'6'0,"1"1"0,0 0 0,0 0 0,1 0 0,0 1 0,0-1 0,1 1 0,0 0 0,-2 8 0,-3 12 0,-21 74 0,14-49 0,-34 87 0,38-121 0,5-18 0,4-11 0,8-35 0,2 0 0,28-84 0,-8 32 0,-13 39 0,12-44 0,28-186 0,-58 262 0,-3 23 0,-5 15 0,-29 64 0,-48 132 0,-9 87 0,71-214 0,11-40 0,9-30 0,1 0 0,0 0 0,1 1 0,0 0 0,0 0 0,2 0 0,-2 19 0,6-28 0,1-10 0,4-11 0,129-300 0,-73 181 0,-34 70 0,120-305 0,-146 353 0,-4 17 0,0 0 0,0-1 0,0 1 0,1 0 0,0-1 0,-1 1 0,1 0 0,0 0 0,0-1 0,0 1 0,0 0 0,0 0 0,2-2 0,-2 5 0,0 1 0,0-1 0,-1 1 0,1-1 0,-1 1 0,1 0 0,-1-1 0,0 1 0,1 0 0,-1-1 0,0 1 0,0 0 0,0-1 0,0 1 0,-1 1 0,-8 133 0,-6 0 0,-44 177 0,31-208 0,13-55 0,-8 57 0,22-106 0,1 0 0,0 1 0,0-1 0,-1 0 0,1 1 0,0-1 0,0 0 0,0 1 0,1-1 0,-1 0 0,0 0 0,0 1 0,1-1 0,-1 0 0,0 0 0,1 1 0,0-1 0,0 2 0,0-3 0,0 1 0,-1-1 0,1 0 0,-1 0 0,1 1 0,0-1 0,-1 0 0,1 0 0,0 0 0,-1 0 0,1 0 0,0 0 0,0 0 0,-1 0 0,1 0 0,0 0 0,-1 0 0,1 0 0,0 0 0,-1 0 0,1-1 0,0 1 0,-1 0 0,2-1 0,2-1 0,1-1 0,-1 0 0,0 0 0,0 0 0,0-1 0,0 1 0,0-1 0,2-4 0,74-108 0,73-144 0,-93 152 0,-18 34 0,99-166 0,-136 228 0,-16 20 0,-18 24 0,-287 419 0,307-437 0,1 0 0,0 1 0,1 0 0,0 1 0,2-1 0,-6 21 0,9-29 0,2-5 0,-1-1 0,1 1 0,-1 0 0,1-1 0,-1 1 0,1 0 0,0 0 0,0-1 0,0 1 0,0 0 0,0 0 0,0 0 0,0-1 0,0 1 0,2 2 0,-2-3 0,1-1 0,-1 1 0,1-1 0,-1 0 0,1 0 0,-1 1 0,1-1 0,-1 0 0,1 0 0,0 0 0,-1 1 0,1-1 0,-1 0 0,1 0 0,0 0 0,-1 0 0,1 0 0,0 0 0,-1-1 0,2 1 0,27-10 0,29-18 0,-2-2 0,62-45 0,-108 68 0,726-555-868,-43-67 0,-637 580 868,-125 123 1736,-822 897-1736,846-914 0,3 1 0,2 2 0,2 1 0,4 3 0,-39 95 0,65-139 0,-1 2 0,-9 37 0,17-58 0,1-1 0,0 0 0,0 1 0,0-1 0,0 0 0,0 0 0,0 1 0,0-1 0,0 0 0,0 1 0,0-1 0,0 0 0,0 1 0,0-1 0,0 0 0,0 0 0,0 1 0,0-1 0,0 0 0,0 1 0,0-1 0,1 0 0,-1 0 0,0 1 0,0-1 0,0 0 0,0 0 0,1 1 0,-1-1 0,0 0 0,0 0 0,1 0 0,-1 1 0,0-1 0,0 0 0,1 0 0,13-2 0,24-18 0,-31 15 0,192-115 0,959-614-1569,-1129 719 1772,-28 16 8,-7 6 38,-46 37 560,-359 276-691,-204 173-139,569-454 21,3 2 0,1 3 0,2 1 0,2 1 0,-36 61 0,70-101 0,2-3 0,-1 1 0,1-1 0,0 1 0,0-1 0,0 1 0,1 0 0,0 0 0,-1 0 0,1-1 0,1 1 0,-2 5 0,3-9 0,-1 1 0,0-1 0,0 0 0,1 1 0,-1-1 0,0 1 0,1-1 0,-1 0 0,0 1 0,1-1 0,-1 0 0,0 0 0,1 1 0,-1-1 0,1 0 0,-1 0 0,1 1 0,-1-1 0,1 0 0,-1 0 0,1 0 0,-1 0 0,1 0 0,-1 0 0,0 0 0,1 0 0,-1 0 0,1 0 0,-1 0 0,1 0 0,-1 0 0,1 0 0,-1 0 0,1-1 0,0 1 0,24-9 0,-18 6 0,245-110 0,-5-10 0,252-170 0,-484 283 0,-9 5 0,0 0 0,0 1 0,1 0 0,-1 1 0,1-1 0,14-3 0,-60 46 0,-22 13 0,-99 66 0,93-71 0,-272 172 0,299-198 0,38-22 0,4-6 0,8-9 0,72-92 0,15-21-51,404-513-549,-490 629 600,-4 4 0,0 0 0,1 1 0,0 0 0,10-7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11:37.17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1536 871 24575,'-2'11'0,"0"-1"0,0 1 0,-1-1 0,-1 0 0,1 1 0,-2-1 0,1-1 0,-9 13 0,1 1 0,7-12 0,-174 381 0,173-377 0,-7 23 0,34-62 0,291-490 0,-244 394 0,179-311 0,-237 409 0,-19 28 0,-22 29 0,-17 23 0,-80 75 0,70-76 0,-139 139 0,-525 537 0,533-551 0,19-21 0,164-154 0,-14 15 0,11-21 0,6-14 0,4 6 0,0-1 0,0 1 0,1 0 0,0 0 0,0-1 0,6-10 0,-3 7 0,43-100-135,68-116 1,81-101-484,-16 46 449,12 8 0,254-276 0,-379 480 169,-60 64 218,-14 17 261,-20 21 218,-327 342-730,119-131-799,-193 230 214,36 30 314,257-309 2091,131-190-1787,5-10 0,8-14 0,76-100 0,27-36 0,633-949-1986,-735 1087 1974,199-331-178,-195 310 1228,-15 39-1019,0 0-1,0-1 0,0 1 1,0 0-1,0 0 0,0-1 1,0 1-1,0 0 0,0 0 1,0 0-1,0-1 0,0 1 0,0 0 1,0 0-1,0-1 0,0 1 1,0 0-1,0 0 0,0-1 1,0 1-1,0 0 0,0 0 1,0 0-1,-1-1 0,1 1 1,0 0-1,0 0 0,0 0 1,0-1-1,0 1 0,-1 0 1,1 0-1,0 0 0,0 0 0,0-1 1,-1 1-1,1 0 0,0 0 1,-1 0-1,-16 11 355,-22 28-323,12-12-53,-37 30 0,-112 75 3,-331 271 0,379-281 0,-140 172 0,249-276 0,22-33 0,24-36 0,22-16 0,76-82 0,-31 41 0,-93 106 0,194-226 0,-137 166 0,100-83 0,-142 137 0,-15 8 0,-1 0 0,0 0 0,0 1 0,0-1 0,1 0 0,-1 1 0,0-1 0,0 0 0,0 1 0,0-1 0,0 1 0,0-1 0,0 0 0,0 1 0,0-1 0,0 0 0,0 1 0,0-1 0,0 1 0,0-1 0,0 0 0,0 1 0,0-1 0,0 0 0,0 1 0,0-1 0,-1 1 0,-16 34 0,-151 215 0,35-54 0,109-163-1365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12:16.12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1199 214 24575,'-2'3'0,"0"0"0,0 0 0,1 0 0,-2-1 0,1 1 0,0-1 0,0 1 0,-1-1 0,1 0 0,-1 0 0,0 0 0,0 0 0,-5 2 0,-1 2 0,-240 153 0,107-74 0,82-47 0,0-2 0,-3-4 0,0-2 0,-118 39 0,95-44 0,-120 27 0,205-51 0,-1-1 0,1 1 0,-1-1 0,1 0 0,-1 0 0,1 1 0,-1-1 0,1 0 0,-1 0 0,1-1 0,-1 1 0,1 0 0,-1 0 0,1-1 0,-1 1 0,1-1 0,0 1 0,-1-1 0,1 0 0,0 1 0,-1-1 0,1 0 0,0 0 0,0 0 0,-2-1 0,3 0 0,-1 0 0,1 0 0,-1 1 0,1-1 0,-1 0 0,1 0 0,0 0 0,0 0 0,0 1 0,0-1 0,0 0 0,0 0 0,1 0 0,-1 0 0,1 0 0,1-3 0,3-8 0,1 0 0,0 1 0,1-1 0,9-11 0,38-51 0,94-100 0,-112 141 0,0 1 0,3 2 0,0 2 0,2 2 0,49-25 0,-67 40 0,0 2 0,1 0 0,0 2 0,1 0 0,0 2 0,0 0 0,0 2 0,1 1 0,0 1 0,38 2 0,-63 0 0,0 0 0,0 0 0,0 0 0,0 0 0,0 1 0,1-1 0,-1 0 0,0 1 0,0-1 0,-1 0 0,1 1 0,0 0 0,0-1 0,0 1 0,0-1 0,0 1 0,0 0 0,-1 0 0,1-1 0,0 1 0,-1 0 0,1 0 0,-1 0 0,1 0 0,0 2 0,0-1 0,-1 0 0,1 1 0,-1-1 0,0 1 0,0-1 0,0 1 0,0 0 0,0-1 0,-1 1 0,0 3 0,-3 8 0,-1-1 0,0-1 0,-9 15 0,12-23 0,-155 315 0,156-317 0,-1 1 0,1-1 0,0 1 0,0-1 0,0 1 0,0-1 0,1 1 0,-1 0 0,1-1 0,-1 1 0,1 0 0,0-1 0,0 5 0,1-6 0,0 0 0,0 1 0,0-1 0,0 0 0,0 0 0,0 0 0,1 0 0,-1-1 0,0 1 0,0 0 0,1-1 0,-1 1 0,0 0 0,1-1 0,-1 1 0,1-1 0,-1 0 0,1 0 0,-1 1 0,1-1 0,-1 0 0,1 0 0,-1 0 0,1-1 0,-1 1 0,3-1 0,58-5 0,0-2 0,-1-3 0,75-24 0,-56 14 0,154-39 0,219-53 0,-391 103 0,1 3 0,108 1 0,-167 6 0,0 0 0,0 1 0,0-1 0,-1 1 0,1 0 0,0 0 0,-1 0 0,6 3 0,-9-4 0,1 0 0,0 1 0,0-1 0,-1 1 0,1-1 0,0 1 0,-1-1 0,1 1 0,-1-1 0,1 1 0,-1-1 0,1 1 0,-1 0 0,1-1 0,-1 1 0,0 0 0,1 0 0,-1-1 0,0 1 0,1 0 0,-1 0 0,0-1 0,0 1 0,0 0 0,0 0 0,0 0 0,0-1 0,0 1 0,0 0 0,0 0 0,0 0 0,0-1 0,0 1 0,-1 0 0,1 0 0,0-1 0,-1 1 0,1 0 0,0-1 0,-1 1 0,1 0 0,-1-1 0,1 1 0,-1 0 0,1-1 0,-1 1 0,-1 0 0,-3 3 0,0 0 0,0-1 0,-1 0 0,0 0 0,1 0 0,-1-1 0,0 1 0,0-1 0,-1-1 0,1 1 0,-9 0 0,0 1 0,-224 45 0,-377 26 0,335-70 0,634 2 0,-96 3 0,357 7 0,-586-15 0,34 0 0,-59-1 0,0 0 0,-1 0 0,1-1 0,0 1 0,0-1 0,0 0 0,-1 1 0,1-1 0,-1-1 0,1 1 0,0 0 0,-1-1 0,0 1 0,1-1 0,-1 0 0,3-3 0,1-5 0,-1 0 0,-1 0 0,0-1 0,0 1 0,4-23 0,-3 14 0,-1 2 0,1 1 0,-1 0 0,4-32 0,-8 42 0,0-1 0,0 1 0,-1 0 0,0 0 0,0 0 0,0 0 0,-1 0 0,1 1 0,-1-1 0,-1 0 0,-4-9 0,-6-5 0,-1 1 0,0 0 0,-2 1 0,0 1 0,-24-20 0,4 6 0,-67-41 0,93 65-124,0 1 0,0 0 0,0 1 0,-1 0 0,0 0 0,0 1-1,0 1 1,0 0 0,-1 0 0,-22-1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12:17.00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2:15:47.55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2253 210 24575,'-65'55'0,"9"-11"0,-853 882 0,772-797 0,109-104 0,25-22 0,0-1 0,0 1 0,-1-1 0,1 0 0,-1 0 0,1-1 0,-1 1 0,0-1 0,1 1 0,-1-1 0,-4 0 0,7 0 0,1-1 0,-1 0 0,1 0 0,-1 0 0,0 0 0,1 0 0,-1 0 0,0-1 0,1 1 0,-1 0 0,1 0 0,-1 0 0,1 0 0,-1-1 0,0 1 0,1 0 0,-1-1 0,1 1 0,-1 0 0,1-1 0,-1 1 0,1-1 0,0 1 0,-1 0 0,1-1 0,0 1 0,-1-2 0,0 0 0,1 0 0,0 0 0,-1 1 0,1-1 0,0 0 0,0 0 0,1 0 0,-1 0 0,0 0 0,1 0 0,-1 1 0,1-1 0,-1 0 0,2-2 0,14-31 0,1 0 0,26-38 0,-13 22 0,292-431 0,-304 457 0,202-237 0,-162 205 0,3 2 0,103-69 0,-136 103 0,9-11 0,-36 31 0,1-1 0,-1 0 0,1 0 0,-1 0 0,0 0 0,1 0 0,-1 0 0,0 0 0,-1 0 0,1-1 0,0 1 0,0 0 0,-1-1 0,0 1 0,1 0 0,-1-5 0,0 6 0,0 0 0,-1 0 0,1 0 0,0 1 0,-1-1 0,1 0 0,0 0 0,-1 0 0,1 1 0,-1-1 0,1 0 0,-1 1 0,1-1 0,-1 0 0,0 1 0,1-1 0,-1 1 0,0-1 0,1 1 0,-1-1 0,0 1 0,0 0 0,0-1 0,1 1 0,-1 0 0,0-1 0,0 1 0,0 0 0,0 0 0,1 0 0,-1 0 0,0 0 0,0 0 0,0 0 0,0 0 0,0 0 0,1 1 0,-1-1 0,0 0 0,0 0 0,-1 1 0,-34 13 0,-24 19 0,-149 68 0,150-77 0,-228 101 0,124-34 0,131-74 0,-1-3 0,-1 0 0,-1-2 0,-47 10 0,42-11 0,26-7 0,0 2 0,1 0 0,-26 15 0,26-13 0,1-1 0,-1-1 0,-1 0 0,-17 6 0,-11-5 0,0-1 0,-1-2 0,1-2 0,-73-6 0,19 1 0,-4 4 0,-93-4 0,189 3 0,0-1 0,0 1 0,0-1 0,0 0 0,0 0 0,0-1 0,0 1 0,0-1 0,1 0 0,-1 0 0,1 0 0,-1 0 0,1-1 0,0 1 0,0-1 0,0 0 0,0 0 0,0 0 0,1 0 0,0 0 0,-1-1 0,1 1 0,0-1 0,0 0 0,1 1 0,-1-1 0,1 0 0,-1-7 0,-1-3 0,1-1 0,0 0 0,1 0 0,1 0 0,1 0 0,3-23 0,-2 28 0,0 1 0,1-1 0,0 1 0,1 0 0,0 0 0,0 0 0,1 0 0,9-12 0,-4 6 0,2 1 0,0 1 0,24-22 0,-28 28 0,1 1 0,0 1 0,1-1 0,-1 1 0,1 1 0,0 0 0,0 1 0,0-1 0,1 2 0,-1 0 0,22-2 0,9 2 0,75 6 0,-49-1 0,724 1 0,-438-6 0,-311 0 0,1-3 0,76-18 0,-71 12 0,53-16 0,-65 16 0,89-32 0,-48 19 154,-29 7-534,0 2 1,1 3-1,58-8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4.xml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68289" y="-1105542"/>
            <a:ext cx="20106881" cy="12704471"/>
            <a:chOff x="385763" y="241101"/>
            <a:chExt cx="26809175" cy="16939295"/>
          </a:xfrm>
        </p:grpSpPr>
        <p:sp>
          <p:nvSpPr>
            <p:cNvPr id="6" name="TextBox 6"/>
            <p:cNvSpPr txBox="1"/>
            <p:nvPr/>
          </p:nvSpPr>
          <p:spPr>
            <a:xfrm>
              <a:off x="385763" y="241101"/>
              <a:ext cx="3343275" cy="3487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50394" y="2729396"/>
              <a:ext cx="1290836" cy="134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851663" y="13692460"/>
              <a:ext cx="3343275" cy="3487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614843" y="13062680"/>
              <a:ext cx="1290835" cy="1346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65316" y="13824395"/>
              <a:ext cx="432865" cy="451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555011" y="4280720"/>
              <a:ext cx="772292" cy="8057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  <p:sp>
          <p:nvSpPr>
            <p:cNvPr id="22" name="Freeform 22"/>
            <p:cNvSpPr/>
            <p:nvPr/>
          </p:nvSpPr>
          <p:spPr>
            <a:xfrm>
              <a:off x="3169049" y="4140200"/>
              <a:ext cx="8562339" cy="8562339"/>
            </a:xfrm>
            <a:custGeom>
              <a:avLst/>
              <a:gdLst/>
              <a:ahLst/>
              <a:cxnLst/>
              <a:rect l="l" t="t" r="r" b="b"/>
              <a:pathLst>
                <a:path w="8562339" h="8562339">
                  <a:moveTo>
                    <a:pt x="0" y="0"/>
                  </a:moveTo>
                  <a:lnTo>
                    <a:pt x="8562338" y="0"/>
                  </a:lnTo>
                  <a:lnTo>
                    <a:pt x="8562338" y="8562339"/>
                  </a:lnTo>
                  <a:lnTo>
                    <a:pt x="0" y="8562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42979" y="5118757"/>
              <a:ext cx="14264899" cy="3265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085"/>
                </a:lnSpc>
              </a:pPr>
              <a:r>
                <a:rPr lang="en-US" sz="5400" b="1" u="sng" dirty="0">
                  <a:solidFill>
                    <a:srgbClr val="E50914"/>
                  </a:solidFill>
                  <a:latin typeface="Arial Black" panose="020B0A04020102020204" pitchFamily="34" charset="0"/>
                  <a:ea typeface="Anton"/>
                  <a:cs typeface="Anton"/>
                  <a:sym typeface="Anton"/>
                </a:rPr>
                <a:t>NETFLIX </a:t>
              </a:r>
              <a:r>
                <a:rPr lang="en-US" sz="5400" b="1" u="sng" dirty="0">
                  <a:solidFill>
                    <a:srgbClr val="FFFFFF"/>
                  </a:solidFill>
                  <a:latin typeface="Arial Black" panose="020B0A04020102020204" pitchFamily="34" charset="0"/>
                  <a:ea typeface="Anton"/>
                  <a:cs typeface="Anton"/>
                  <a:sym typeface="Anton"/>
                </a:rPr>
                <a:t>DATA ANALYSIS PROJECT USING PYTHON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457659" y="13145157"/>
              <a:ext cx="4415689" cy="9624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87"/>
                </a:lnSpc>
              </a:pPr>
              <a:r>
                <a:rPr lang="en-US" sz="4000" b="1" spc="278" dirty="0">
                  <a:solidFill>
                    <a:srgbClr val="E50914"/>
                  </a:solidFill>
                  <a:latin typeface="Arial Black" panose="020B0A040201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BY-</a:t>
              </a:r>
              <a:r>
                <a:rPr lang="en-US" sz="4000" b="1" spc="278" dirty="0">
                  <a:solidFill>
                    <a:srgbClr val="FFFFFF"/>
                  </a:solidFill>
                  <a:latin typeface="Arial Black" panose="020B0A040201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PARTH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071748" y="9385957"/>
              <a:ext cx="12844619" cy="1617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38"/>
                </a:lnSpc>
              </a:pPr>
              <a:r>
                <a:rPr lang="en-US" sz="3527" spc="225" dirty="0">
                  <a:solidFill>
                    <a:srgbClr val="FFFFFF"/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Understanding Global Streaming Patterns through Data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 advTm="5000">
        <p15:prstTrans prst="curtains"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0529300" y="1485900"/>
            <a:ext cx="7072900" cy="70729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824" t="-13261" r="-13261" b="-12824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47169" y="4601860"/>
            <a:ext cx="389240" cy="38924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091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41080" y="1257300"/>
            <a:ext cx="8415678" cy="242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48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INTRODUCTION ABOUT THIS PROJECT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2939" y="4576652"/>
            <a:ext cx="4870522" cy="414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Understanding the Basics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6636" y="5365512"/>
            <a:ext cx="9202586" cy="2577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21382" lvl="1" indent="-260691" algn="l">
              <a:lnSpc>
                <a:spcPts val="4105"/>
              </a:lnSpc>
              <a:buFont typeface="Arial"/>
              <a:buChar char="•"/>
            </a:pPr>
            <a:r>
              <a:rPr lang="en-US" sz="2414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</a:t>
            </a:r>
            <a:r>
              <a:rPr lang="en-US" sz="2414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etflix is one of the largest streaming platforms globally.</a:t>
            </a:r>
          </a:p>
          <a:p>
            <a:pPr marL="521382" lvl="1" indent="-260691" algn="l">
              <a:lnSpc>
                <a:spcPts val="4105"/>
              </a:lnSpc>
              <a:buFont typeface="Arial"/>
              <a:buChar char="•"/>
            </a:pPr>
            <a:r>
              <a:rPr lang="en-US" sz="2414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The dataset contains details about movies and TV shows available on Netflix.</a:t>
            </a:r>
          </a:p>
          <a:p>
            <a:pPr marL="521382" lvl="1" indent="-260691" algn="l">
              <a:lnSpc>
                <a:spcPts val="4105"/>
              </a:lnSpc>
              <a:buFont typeface="Arial"/>
              <a:buChar char="•"/>
            </a:pPr>
            <a:r>
              <a:rPr lang="en-US" sz="2414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Goal: Analyze patterns, trends, and insights about Netflix’s content library.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914400" y="1638300"/>
            <a:ext cx="6928646" cy="692864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89756" t="-47647" b="-42109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8530895" y="1657256"/>
            <a:ext cx="7385888" cy="1405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31"/>
              </a:lnSpc>
            </a:pPr>
            <a:r>
              <a:rPr lang="en-US" sz="80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OBJECTIVES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10063" y="3619945"/>
            <a:ext cx="9760642" cy="5120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5658" lvl="1" indent="-367829" algn="l">
              <a:lnSpc>
                <a:spcPts val="5792"/>
              </a:lnSpc>
              <a:spcBef>
                <a:spcPct val="0"/>
              </a:spcBef>
              <a:buFont typeface="Arial"/>
              <a:buChar char="•"/>
            </a:pPr>
            <a:r>
              <a:rPr lang="en-US" sz="3407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Cl</a:t>
            </a:r>
            <a:r>
              <a:rPr lang="en-US" sz="3407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ean and preprocess Netflix dataset</a:t>
            </a:r>
          </a:p>
          <a:p>
            <a:pPr marL="735658" lvl="1" indent="-367829" algn="l">
              <a:lnSpc>
                <a:spcPts val="5792"/>
              </a:lnSpc>
              <a:spcBef>
                <a:spcPct val="0"/>
              </a:spcBef>
              <a:buFont typeface="Arial"/>
              <a:buChar char="•"/>
            </a:pPr>
            <a:r>
              <a:rPr lang="en-US" sz="3407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Explore data using visualizations</a:t>
            </a:r>
          </a:p>
          <a:p>
            <a:pPr marL="735658" lvl="1" indent="-367829" algn="l">
              <a:lnSpc>
                <a:spcPts val="5792"/>
              </a:lnSpc>
              <a:spcBef>
                <a:spcPct val="0"/>
              </a:spcBef>
              <a:buFont typeface="Arial"/>
              <a:buChar char="•"/>
            </a:pPr>
            <a:r>
              <a:rPr lang="en-US" sz="3407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Identify top genres, countries, and release trends</a:t>
            </a:r>
          </a:p>
          <a:p>
            <a:pPr marL="735658" lvl="1" indent="-367829" algn="l">
              <a:lnSpc>
                <a:spcPts val="5792"/>
              </a:lnSpc>
              <a:spcBef>
                <a:spcPct val="0"/>
              </a:spcBef>
              <a:buFont typeface="Arial"/>
              <a:buChar char="•"/>
            </a:pPr>
            <a:r>
              <a:rPr lang="en-US" sz="3407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Derive meaningful insights to understand Netflix’s content strategy</a:t>
            </a:r>
          </a:p>
          <a:p>
            <a:pPr marL="0" lvl="0" indent="0" algn="l">
              <a:lnSpc>
                <a:spcPts val="5792"/>
              </a:lnSpc>
              <a:spcBef>
                <a:spcPct val="0"/>
              </a:spcBef>
            </a:pPr>
            <a:endParaRPr lang="en-US" sz="3407" u="none" strike="noStrike" dirty="0">
              <a:solidFill>
                <a:srgbClr val="FFFFFF">
                  <a:alpha val="80000"/>
                </a:srgbClr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685800" y="1943100"/>
            <a:ext cx="6928646" cy="692864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04298" t="-55439" b="-48859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7624715" y="1599948"/>
            <a:ext cx="9612436" cy="1367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63"/>
              </a:lnSpc>
            </a:pPr>
            <a:r>
              <a:rPr lang="en-US" sz="66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TOOLS &amp; LIBRARIES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71621" y="3962845"/>
            <a:ext cx="10223262" cy="435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7789" lvl="1" indent="-443895" algn="l">
              <a:lnSpc>
                <a:spcPts val="6990"/>
              </a:lnSpc>
              <a:spcBef>
                <a:spcPct val="0"/>
              </a:spcBef>
              <a:buFont typeface="Arial"/>
              <a:buChar char="•"/>
            </a:pPr>
            <a:r>
              <a:rPr lang="en-US" sz="411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P</a:t>
            </a:r>
            <a:r>
              <a:rPr lang="en-US" sz="4112" b="1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andas </a:t>
            </a:r>
            <a:r>
              <a:rPr lang="en-US" sz="4112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– Data handling</a:t>
            </a:r>
          </a:p>
          <a:p>
            <a:pPr marL="887789" lvl="1" indent="-443895" algn="l">
              <a:lnSpc>
                <a:spcPts val="6990"/>
              </a:lnSpc>
              <a:spcBef>
                <a:spcPct val="0"/>
              </a:spcBef>
              <a:buFont typeface="Arial"/>
              <a:buChar char="•"/>
            </a:pPr>
            <a:r>
              <a:rPr lang="en-US" sz="4112" b="1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NumPy </a:t>
            </a:r>
            <a:r>
              <a:rPr lang="en-US" sz="4112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– Numerical operations</a:t>
            </a:r>
          </a:p>
          <a:p>
            <a:pPr marL="887789" lvl="1" indent="-443895" algn="l">
              <a:lnSpc>
                <a:spcPts val="6990"/>
              </a:lnSpc>
              <a:spcBef>
                <a:spcPct val="0"/>
              </a:spcBef>
              <a:buFont typeface="Arial"/>
              <a:buChar char="•"/>
            </a:pPr>
            <a:r>
              <a:rPr lang="en-US" sz="4112" b="1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Matplotlib &amp; Seaborn</a:t>
            </a:r>
            <a:r>
              <a:rPr lang="en-US" sz="4112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– Visualization</a:t>
            </a:r>
          </a:p>
          <a:p>
            <a:pPr marL="887789" lvl="1" indent="-443895" algn="l">
              <a:lnSpc>
                <a:spcPts val="6990"/>
              </a:lnSpc>
              <a:spcBef>
                <a:spcPct val="0"/>
              </a:spcBef>
              <a:buFont typeface="Arial"/>
              <a:buChar char="•"/>
            </a:pPr>
            <a:r>
              <a:rPr lang="en-US" sz="4112" b="1" u="none" strike="noStrike" dirty="0" err="1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Plotly</a:t>
            </a:r>
            <a:r>
              <a:rPr lang="en-US" sz="4112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– Interactive charts</a:t>
            </a:r>
          </a:p>
          <a:p>
            <a:pPr marL="0" lvl="0" indent="0" algn="l">
              <a:lnSpc>
                <a:spcPts val="6990"/>
              </a:lnSpc>
              <a:spcBef>
                <a:spcPct val="0"/>
              </a:spcBef>
            </a:pPr>
            <a:endParaRPr lang="en-US" sz="4112" u="none" strike="noStrike" dirty="0">
              <a:solidFill>
                <a:srgbClr val="FFFFFF">
                  <a:alpha val="80000"/>
                </a:srgbClr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 rot="6000">
            <a:off x="9548662" y="2985705"/>
            <a:ext cx="7986417" cy="4142542"/>
          </a:xfrm>
          <a:custGeom>
            <a:avLst/>
            <a:gdLst/>
            <a:ahLst/>
            <a:cxnLst/>
            <a:rect l="l" t="t" r="r" b="b"/>
            <a:pathLst>
              <a:path w="7986417" h="4142542">
                <a:moveTo>
                  <a:pt x="0" y="13926"/>
                </a:moveTo>
                <a:lnTo>
                  <a:pt x="7979212" y="0"/>
                </a:lnTo>
                <a:lnTo>
                  <a:pt x="7986417" y="4128615"/>
                </a:lnTo>
                <a:lnTo>
                  <a:pt x="7206" y="4142542"/>
                </a:lnTo>
                <a:lnTo>
                  <a:pt x="0" y="13926"/>
                </a:lnTo>
                <a:close/>
              </a:path>
            </a:pathLst>
          </a:custGeom>
          <a:blipFill>
            <a:blip r:embed="rId2"/>
            <a:stretch>
              <a:fillRect l="-2372" t="-51034" b="-46329"/>
            </a:stretch>
          </a:blipFill>
          <a:ln w="104775" cap="rnd">
            <a:solidFill>
              <a:srgbClr val="FFFFFF">
                <a:alpha val="95000"/>
              </a:srgbClr>
            </a:solidFill>
            <a:prstDash val="solid"/>
            <a:round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sp>
      <p:sp>
        <p:nvSpPr>
          <p:cNvPr id="12" name="TextBox 12"/>
          <p:cNvSpPr txBox="1"/>
          <p:nvPr/>
        </p:nvSpPr>
        <p:spPr>
          <a:xfrm>
            <a:off x="2156625" y="876048"/>
            <a:ext cx="14237963" cy="1330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72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DATA ANALYSIS OVERVIEW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87117" y="3803878"/>
            <a:ext cx="8993729" cy="4564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6211" lvl="1" indent="-378105" algn="l">
              <a:lnSpc>
                <a:spcPts val="5954"/>
              </a:lnSpc>
              <a:spcBef>
                <a:spcPct val="0"/>
              </a:spcBef>
              <a:buFont typeface="Arial"/>
              <a:buChar char="•"/>
            </a:pPr>
            <a:r>
              <a:rPr lang="en-US" sz="3502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Movie vs TV Show distribution</a:t>
            </a:r>
          </a:p>
          <a:p>
            <a:pPr marL="756211" lvl="1" indent="-378105" algn="l">
              <a:lnSpc>
                <a:spcPts val="5954"/>
              </a:lnSpc>
              <a:spcBef>
                <a:spcPct val="0"/>
              </a:spcBef>
              <a:buFont typeface="Arial"/>
              <a:buChar char="•"/>
            </a:pPr>
            <a:r>
              <a:rPr lang="en-US" sz="3502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Country-wise content</a:t>
            </a:r>
          </a:p>
          <a:p>
            <a:pPr marL="756211" lvl="1" indent="-378105" algn="l">
              <a:lnSpc>
                <a:spcPts val="5954"/>
              </a:lnSpc>
              <a:spcBef>
                <a:spcPct val="0"/>
              </a:spcBef>
              <a:buFont typeface="Arial"/>
              <a:buChar char="•"/>
            </a:pPr>
            <a:r>
              <a:rPr lang="en-US" sz="3502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Genre popularity</a:t>
            </a:r>
          </a:p>
          <a:p>
            <a:pPr marL="756211" lvl="1" indent="-378105" algn="l">
              <a:lnSpc>
                <a:spcPts val="5954"/>
              </a:lnSpc>
              <a:spcBef>
                <a:spcPct val="0"/>
              </a:spcBef>
              <a:buFont typeface="Arial"/>
              <a:buChar char="•"/>
            </a:pPr>
            <a:r>
              <a:rPr lang="en-US" sz="3502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Ratings and durations</a:t>
            </a:r>
          </a:p>
          <a:p>
            <a:pPr marL="756211" lvl="1" indent="-378105" algn="l">
              <a:lnSpc>
                <a:spcPts val="5954"/>
              </a:lnSpc>
              <a:spcBef>
                <a:spcPct val="0"/>
              </a:spcBef>
              <a:buFont typeface="Arial"/>
              <a:buChar char="•"/>
            </a:pPr>
            <a:r>
              <a:rPr lang="en-US" sz="3502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Release trends over time</a:t>
            </a:r>
          </a:p>
          <a:p>
            <a:pPr algn="l">
              <a:lnSpc>
                <a:spcPts val="6384"/>
              </a:lnSpc>
            </a:pPr>
            <a:endParaRPr lang="en-US" sz="3502" u="none" strike="noStrike" dirty="0">
              <a:solidFill>
                <a:srgbClr val="FFFFFF">
                  <a:alpha val="80000"/>
                </a:srgbClr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944626" y="2916465"/>
            <a:ext cx="3922774" cy="759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68"/>
              </a:lnSpc>
              <a:spcBef>
                <a:spcPct val="0"/>
              </a:spcBef>
            </a:pPr>
            <a:r>
              <a:rPr lang="en-US" sz="4549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Focused on 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7"/>
          <p:cNvSpPr/>
          <p:nvPr/>
        </p:nvSpPr>
        <p:spPr>
          <a:xfrm>
            <a:off x="11560464" y="3343659"/>
            <a:ext cx="5118507" cy="5118507"/>
          </a:xfrm>
          <a:custGeom>
            <a:avLst/>
            <a:gdLst/>
            <a:ahLst/>
            <a:cxnLst/>
            <a:rect l="l" t="t" r="r" b="b"/>
            <a:pathLst>
              <a:path w="5118507" h="5118507">
                <a:moveTo>
                  <a:pt x="0" y="0"/>
                </a:moveTo>
                <a:lnTo>
                  <a:pt x="5118508" y="0"/>
                </a:lnTo>
                <a:lnTo>
                  <a:pt x="5118508" y="5118507"/>
                </a:lnTo>
                <a:lnTo>
                  <a:pt x="0" y="5118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030" t="-26389" r="-49830" b="-25844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30629" y="3306460"/>
            <a:ext cx="389240" cy="3892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091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 sz="240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30629" y="6104292"/>
            <a:ext cx="389240" cy="38924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091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 sz="240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00200" y="808577"/>
            <a:ext cx="16019667" cy="128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60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MOVIES VS TV SHOWS DISTRIBUTION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26399" y="3282037"/>
            <a:ext cx="775444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3200" b="1" spc="15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Observation: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13963" y="3953528"/>
            <a:ext cx="8340748" cy="1680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8382" lvl="1" indent="-284191" algn="l">
              <a:lnSpc>
                <a:spcPts val="4475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M</a:t>
            </a:r>
            <a:r>
              <a:rPr lang="en-US" sz="3200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ovies dominate Netflix’s catalog (~73%).</a:t>
            </a:r>
          </a:p>
          <a:p>
            <a:pPr marL="568382" lvl="1" indent="-284191" algn="l">
              <a:lnSpc>
                <a:spcPts val="4475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TV shows form around 27%</a:t>
            </a:r>
          </a:p>
          <a:p>
            <a:pPr marL="0" lvl="0" indent="0" algn="l">
              <a:lnSpc>
                <a:spcPts val="4475"/>
              </a:lnSpc>
              <a:spcBef>
                <a:spcPct val="0"/>
              </a:spcBef>
            </a:pPr>
            <a:endParaRPr lang="en-US" sz="3200" u="none" strike="noStrike" dirty="0">
              <a:solidFill>
                <a:srgbClr val="FFFFFF">
                  <a:alpha val="80000"/>
                </a:srgbClr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126399" y="6079083"/>
            <a:ext cx="775444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3200" b="1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30269" y="6896100"/>
            <a:ext cx="7342331" cy="1115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75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Netflix’s main focus remains on film content but TV content is growing.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82019" y="2887749"/>
            <a:ext cx="1414781" cy="503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6"/>
              </a:lnSpc>
            </a:pPr>
            <a:r>
              <a:rPr lang="en-US" sz="2997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Movies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283615" y="7459351"/>
            <a:ext cx="1699585" cy="50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6"/>
              </a:lnSpc>
            </a:pPr>
            <a:r>
              <a:rPr lang="en-US" sz="2997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Tv Shows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784330" y="3616642"/>
            <a:ext cx="416243" cy="416243"/>
            <a:chOff x="0" y="0"/>
            <a:chExt cx="554990" cy="554990"/>
          </a:xfrm>
        </p:grpSpPr>
        <p:sp>
          <p:nvSpPr>
            <p:cNvPr id="29" name="Freeform 29"/>
            <p:cNvSpPr/>
            <p:nvPr/>
          </p:nvSpPr>
          <p:spPr>
            <a:xfrm>
              <a:off x="49530" y="44450"/>
              <a:ext cx="448310" cy="461010"/>
            </a:xfrm>
            <a:custGeom>
              <a:avLst/>
              <a:gdLst/>
              <a:ahLst/>
              <a:cxnLst/>
              <a:rect l="l" t="t" r="r" b="b"/>
              <a:pathLst>
                <a:path w="448310" h="461010">
                  <a:moveTo>
                    <a:pt x="448310" y="162560"/>
                  </a:moveTo>
                  <a:cubicBezTo>
                    <a:pt x="448310" y="306070"/>
                    <a:pt x="431800" y="344170"/>
                    <a:pt x="410210" y="372110"/>
                  </a:cubicBezTo>
                  <a:cubicBezTo>
                    <a:pt x="388620" y="400050"/>
                    <a:pt x="355600" y="424180"/>
                    <a:pt x="323850" y="439420"/>
                  </a:cubicBezTo>
                  <a:cubicBezTo>
                    <a:pt x="292100" y="453390"/>
                    <a:pt x="251460" y="461010"/>
                    <a:pt x="215900" y="458470"/>
                  </a:cubicBezTo>
                  <a:cubicBezTo>
                    <a:pt x="180340" y="457200"/>
                    <a:pt x="142240" y="444500"/>
                    <a:pt x="111760" y="426720"/>
                  </a:cubicBezTo>
                  <a:cubicBezTo>
                    <a:pt x="81280" y="407670"/>
                    <a:pt x="52070" y="379730"/>
                    <a:pt x="34290" y="349250"/>
                  </a:cubicBezTo>
                  <a:cubicBezTo>
                    <a:pt x="16510" y="318770"/>
                    <a:pt x="3810" y="279400"/>
                    <a:pt x="1270" y="243840"/>
                  </a:cubicBezTo>
                  <a:cubicBezTo>
                    <a:pt x="0" y="209550"/>
                    <a:pt x="6350" y="168910"/>
                    <a:pt x="21590" y="137160"/>
                  </a:cubicBezTo>
                  <a:cubicBezTo>
                    <a:pt x="35560" y="104140"/>
                    <a:pt x="60960" y="72390"/>
                    <a:pt x="88900" y="50800"/>
                  </a:cubicBezTo>
                  <a:cubicBezTo>
                    <a:pt x="116840" y="29210"/>
                    <a:pt x="153670" y="12700"/>
                    <a:pt x="189230" y="6350"/>
                  </a:cubicBezTo>
                  <a:cubicBezTo>
                    <a:pt x="223520" y="0"/>
                    <a:pt x="264160" y="1270"/>
                    <a:pt x="298450" y="12700"/>
                  </a:cubicBezTo>
                  <a:cubicBezTo>
                    <a:pt x="331470" y="22860"/>
                    <a:pt x="391160" y="68580"/>
                    <a:pt x="391160" y="68580"/>
                  </a:cubicBezTo>
                </a:path>
              </a:pathLst>
            </a:custGeom>
            <a:solidFill>
              <a:srgbClr val="000000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1334750" y="3738562"/>
            <a:ext cx="416243" cy="416243"/>
            <a:chOff x="0" y="0"/>
            <a:chExt cx="554990" cy="554990"/>
          </a:xfrm>
        </p:grpSpPr>
        <p:sp>
          <p:nvSpPr>
            <p:cNvPr id="31" name="Freeform 31"/>
            <p:cNvSpPr/>
            <p:nvPr/>
          </p:nvSpPr>
          <p:spPr>
            <a:xfrm>
              <a:off x="49530" y="44450"/>
              <a:ext cx="448310" cy="462280"/>
            </a:xfrm>
            <a:custGeom>
              <a:avLst/>
              <a:gdLst/>
              <a:ahLst/>
              <a:cxnLst/>
              <a:rect l="l" t="t" r="r" b="b"/>
              <a:pathLst>
                <a:path w="448310" h="462280">
                  <a:moveTo>
                    <a:pt x="448310" y="163830"/>
                  </a:moveTo>
                  <a:cubicBezTo>
                    <a:pt x="448310" y="307340"/>
                    <a:pt x="431800" y="344170"/>
                    <a:pt x="410210" y="372110"/>
                  </a:cubicBezTo>
                  <a:cubicBezTo>
                    <a:pt x="387350" y="400050"/>
                    <a:pt x="355600" y="425450"/>
                    <a:pt x="323850" y="440690"/>
                  </a:cubicBezTo>
                  <a:cubicBezTo>
                    <a:pt x="290830" y="454660"/>
                    <a:pt x="251460" y="462280"/>
                    <a:pt x="215900" y="459740"/>
                  </a:cubicBezTo>
                  <a:cubicBezTo>
                    <a:pt x="180340" y="457200"/>
                    <a:pt x="142240" y="445770"/>
                    <a:pt x="111760" y="426720"/>
                  </a:cubicBezTo>
                  <a:cubicBezTo>
                    <a:pt x="81280" y="408940"/>
                    <a:pt x="52070" y="379730"/>
                    <a:pt x="34290" y="349250"/>
                  </a:cubicBezTo>
                  <a:cubicBezTo>
                    <a:pt x="15240" y="320040"/>
                    <a:pt x="3810" y="280670"/>
                    <a:pt x="1270" y="245110"/>
                  </a:cubicBezTo>
                  <a:cubicBezTo>
                    <a:pt x="0" y="209550"/>
                    <a:pt x="6350" y="170180"/>
                    <a:pt x="21590" y="137160"/>
                  </a:cubicBezTo>
                  <a:cubicBezTo>
                    <a:pt x="35560" y="105410"/>
                    <a:pt x="60960" y="73660"/>
                    <a:pt x="88900" y="52070"/>
                  </a:cubicBezTo>
                  <a:cubicBezTo>
                    <a:pt x="116840" y="29210"/>
                    <a:pt x="153670" y="12700"/>
                    <a:pt x="187960" y="6350"/>
                  </a:cubicBezTo>
                  <a:cubicBezTo>
                    <a:pt x="223520" y="0"/>
                    <a:pt x="264160" y="2540"/>
                    <a:pt x="297180" y="13970"/>
                  </a:cubicBezTo>
                  <a:cubicBezTo>
                    <a:pt x="331470" y="24130"/>
                    <a:pt x="391160" y="69850"/>
                    <a:pt x="391160" y="69850"/>
                  </a:cubicBezTo>
                </a:path>
              </a:pathLst>
            </a:custGeom>
            <a:solidFill>
              <a:srgbClr val="000000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336625" y="4221428"/>
            <a:ext cx="1054418" cy="623888"/>
            <a:chOff x="0" y="0"/>
            <a:chExt cx="1405890" cy="831850"/>
          </a:xfrm>
        </p:grpSpPr>
        <p:sp>
          <p:nvSpPr>
            <p:cNvPr id="33" name="Freeform 33"/>
            <p:cNvSpPr/>
            <p:nvPr/>
          </p:nvSpPr>
          <p:spPr>
            <a:xfrm>
              <a:off x="41910" y="49530"/>
              <a:ext cx="1328420" cy="768350"/>
            </a:xfrm>
            <a:custGeom>
              <a:avLst/>
              <a:gdLst/>
              <a:ahLst/>
              <a:cxnLst/>
              <a:rect l="l" t="t" r="r" b="b"/>
              <a:pathLst>
                <a:path w="1328420" h="768350">
                  <a:moveTo>
                    <a:pt x="8890" y="124460"/>
                  </a:moveTo>
                  <a:cubicBezTo>
                    <a:pt x="483870" y="0"/>
                    <a:pt x="544830" y="43180"/>
                    <a:pt x="622300" y="62230"/>
                  </a:cubicBezTo>
                  <a:cubicBezTo>
                    <a:pt x="702310" y="82550"/>
                    <a:pt x="788670" y="100330"/>
                    <a:pt x="872490" y="118110"/>
                  </a:cubicBezTo>
                  <a:cubicBezTo>
                    <a:pt x="955040" y="135890"/>
                    <a:pt x="1050290" y="118110"/>
                    <a:pt x="1120140" y="166370"/>
                  </a:cubicBezTo>
                  <a:cubicBezTo>
                    <a:pt x="1203960" y="226060"/>
                    <a:pt x="1328420" y="393700"/>
                    <a:pt x="1311910" y="487680"/>
                  </a:cubicBezTo>
                  <a:cubicBezTo>
                    <a:pt x="1295400" y="581660"/>
                    <a:pt x="1117600" y="694690"/>
                    <a:pt x="1014730" y="730250"/>
                  </a:cubicBezTo>
                  <a:cubicBezTo>
                    <a:pt x="932180" y="760730"/>
                    <a:pt x="854710" y="731520"/>
                    <a:pt x="759460" y="731520"/>
                  </a:cubicBezTo>
                  <a:cubicBezTo>
                    <a:pt x="633730" y="731520"/>
                    <a:pt x="367030" y="768350"/>
                    <a:pt x="330200" y="731520"/>
                  </a:cubicBezTo>
                  <a:cubicBezTo>
                    <a:pt x="316230" y="718820"/>
                    <a:pt x="340360" y="692150"/>
                    <a:pt x="330200" y="678180"/>
                  </a:cubicBezTo>
                  <a:cubicBezTo>
                    <a:pt x="311150" y="657860"/>
                    <a:pt x="231140" y="679450"/>
                    <a:pt x="187960" y="654050"/>
                  </a:cubicBezTo>
                  <a:cubicBezTo>
                    <a:pt x="132080" y="621030"/>
                    <a:pt x="68580" y="547370"/>
                    <a:pt x="38100" y="471170"/>
                  </a:cubicBezTo>
                  <a:cubicBezTo>
                    <a:pt x="0" y="378460"/>
                    <a:pt x="8890" y="124460"/>
                    <a:pt x="8890" y="124460"/>
                  </a:cubicBezTo>
                </a:path>
              </a:pathLst>
            </a:custGeom>
            <a:solidFill>
              <a:srgbClr val="000000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1224260" y="3540442"/>
            <a:ext cx="931545" cy="544830"/>
            <a:chOff x="0" y="0"/>
            <a:chExt cx="1242060" cy="726440"/>
          </a:xfrm>
        </p:grpSpPr>
        <p:sp>
          <p:nvSpPr>
            <p:cNvPr id="35" name="Freeform 35"/>
            <p:cNvSpPr/>
            <p:nvPr/>
          </p:nvSpPr>
          <p:spPr>
            <a:xfrm>
              <a:off x="48260" y="50800"/>
              <a:ext cx="1145540" cy="638810"/>
            </a:xfrm>
            <a:custGeom>
              <a:avLst/>
              <a:gdLst/>
              <a:ahLst/>
              <a:cxnLst/>
              <a:rect l="l" t="t" r="r" b="b"/>
              <a:pathLst>
                <a:path w="1145540" h="638810">
                  <a:moveTo>
                    <a:pt x="579120" y="624840"/>
                  </a:moveTo>
                  <a:cubicBezTo>
                    <a:pt x="325120" y="544830"/>
                    <a:pt x="245110" y="543560"/>
                    <a:pt x="190500" y="527050"/>
                  </a:cubicBezTo>
                  <a:cubicBezTo>
                    <a:pt x="149860" y="515620"/>
                    <a:pt x="118110" y="504190"/>
                    <a:pt x="90170" y="482600"/>
                  </a:cubicBezTo>
                  <a:cubicBezTo>
                    <a:pt x="62230" y="461010"/>
                    <a:pt x="36830" y="429260"/>
                    <a:pt x="22860" y="396240"/>
                  </a:cubicBezTo>
                  <a:cubicBezTo>
                    <a:pt x="7620" y="364490"/>
                    <a:pt x="0" y="323850"/>
                    <a:pt x="2540" y="289560"/>
                  </a:cubicBezTo>
                  <a:cubicBezTo>
                    <a:pt x="3810" y="254000"/>
                    <a:pt x="20320" y="210820"/>
                    <a:pt x="34290" y="184150"/>
                  </a:cubicBezTo>
                  <a:cubicBezTo>
                    <a:pt x="44450" y="166370"/>
                    <a:pt x="55880" y="153670"/>
                    <a:pt x="68580" y="140970"/>
                  </a:cubicBezTo>
                  <a:cubicBezTo>
                    <a:pt x="81280" y="128270"/>
                    <a:pt x="92710" y="116840"/>
                    <a:pt x="111760" y="106680"/>
                  </a:cubicBezTo>
                  <a:cubicBezTo>
                    <a:pt x="138430" y="92710"/>
                    <a:pt x="170180" y="81280"/>
                    <a:pt x="215900" y="73660"/>
                  </a:cubicBezTo>
                  <a:cubicBezTo>
                    <a:pt x="300990" y="60960"/>
                    <a:pt x="469900" y="83820"/>
                    <a:pt x="589280" y="69850"/>
                  </a:cubicBezTo>
                  <a:cubicBezTo>
                    <a:pt x="701040" y="57150"/>
                    <a:pt x="830580" y="0"/>
                    <a:pt x="908050" y="0"/>
                  </a:cubicBezTo>
                  <a:cubicBezTo>
                    <a:pt x="953770" y="0"/>
                    <a:pt x="988060" y="11430"/>
                    <a:pt x="1016000" y="22860"/>
                  </a:cubicBezTo>
                  <a:cubicBezTo>
                    <a:pt x="1035050" y="31750"/>
                    <a:pt x="1046480" y="39370"/>
                    <a:pt x="1061720" y="53340"/>
                  </a:cubicBezTo>
                  <a:cubicBezTo>
                    <a:pt x="1083310" y="73660"/>
                    <a:pt x="1112520" y="109220"/>
                    <a:pt x="1126490" y="142240"/>
                  </a:cubicBezTo>
                  <a:cubicBezTo>
                    <a:pt x="1140460" y="173990"/>
                    <a:pt x="1145540" y="214630"/>
                    <a:pt x="1143000" y="250190"/>
                  </a:cubicBezTo>
                  <a:cubicBezTo>
                    <a:pt x="1139190" y="285750"/>
                    <a:pt x="1126490" y="323850"/>
                    <a:pt x="1106170" y="353060"/>
                  </a:cubicBezTo>
                  <a:cubicBezTo>
                    <a:pt x="1087120" y="383540"/>
                    <a:pt x="1051560" y="411480"/>
                    <a:pt x="1027430" y="427990"/>
                  </a:cubicBezTo>
                  <a:cubicBezTo>
                    <a:pt x="1009650" y="439420"/>
                    <a:pt x="1000760" y="443230"/>
                    <a:pt x="975360" y="449580"/>
                  </a:cubicBezTo>
                  <a:cubicBezTo>
                    <a:pt x="916940" y="464820"/>
                    <a:pt x="779780" y="466090"/>
                    <a:pt x="666750" y="483870"/>
                  </a:cubicBezTo>
                  <a:cubicBezTo>
                    <a:pt x="527050" y="505460"/>
                    <a:pt x="294640" y="638810"/>
                    <a:pt x="203200" y="577850"/>
                  </a:cubicBezTo>
                  <a:cubicBezTo>
                    <a:pt x="113030" y="516890"/>
                    <a:pt x="55880" y="220980"/>
                    <a:pt x="118110" y="128270"/>
                  </a:cubicBezTo>
                  <a:cubicBezTo>
                    <a:pt x="182880" y="31750"/>
                    <a:pt x="469900" y="52070"/>
                    <a:pt x="614680" y="30480"/>
                  </a:cubicBezTo>
                  <a:cubicBezTo>
                    <a:pt x="725170" y="13970"/>
                    <a:pt x="849630" y="0"/>
                    <a:pt x="908050" y="0"/>
                  </a:cubicBezTo>
                  <a:cubicBezTo>
                    <a:pt x="933450" y="0"/>
                    <a:pt x="943610" y="0"/>
                    <a:pt x="963930" y="5080"/>
                  </a:cubicBezTo>
                  <a:cubicBezTo>
                    <a:pt x="991870" y="13970"/>
                    <a:pt x="1035050" y="30480"/>
                    <a:pt x="1061720" y="53340"/>
                  </a:cubicBezTo>
                  <a:cubicBezTo>
                    <a:pt x="1088390" y="76200"/>
                    <a:pt x="1112520" y="109220"/>
                    <a:pt x="1126490" y="142240"/>
                  </a:cubicBezTo>
                  <a:cubicBezTo>
                    <a:pt x="1140460" y="173990"/>
                    <a:pt x="1143000" y="219710"/>
                    <a:pt x="1143000" y="250190"/>
                  </a:cubicBezTo>
                  <a:cubicBezTo>
                    <a:pt x="1141730" y="270510"/>
                    <a:pt x="1136650" y="287020"/>
                    <a:pt x="1131570" y="303530"/>
                  </a:cubicBezTo>
                  <a:cubicBezTo>
                    <a:pt x="1125220" y="321310"/>
                    <a:pt x="1118870" y="336550"/>
                    <a:pt x="1106170" y="353060"/>
                  </a:cubicBezTo>
                  <a:cubicBezTo>
                    <a:pt x="1089660" y="377190"/>
                    <a:pt x="1068070" y="406400"/>
                    <a:pt x="1027430" y="427990"/>
                  </a:cubicBezTo>
                  <a:cubicBezTo>
                    <a:pt x="942340" y="472440"/>
                    <a:pt x="734060" y="511810"/>
                    <a:pt x="590550" y="527050"/>
                  </a:cubicBezTo>
                  <a:cubicBezTo>
                    <a:pt x="454660" y="542290"/>
                    <a:pt x="278130" y="546100"/>
                    <a:pt x="190500" y="527050"/>
                  </a:cubicBezTo>
                  <a:cubicBezTo>
                    <a:pt x="144780" y="516890"/>
                    <a:pt x="118110" y="504190"/>
                    <a:pt x="90170" y="482600"/>
                  </a:cubicBezTo>
                  <a:cubicBezTo>
                    <a:pt x="62230" y="461010"/>
                    <a:pt x="36830" y="422910"/>
                    <a:pt x="22860" y="396240"/>
                  </a:cubicBezTo>
                  <a:cubicBezTo>
                    <a:pt x="12700" y="378460"/>
                    <a:pt x="8890" y="364490"/>
                    <a:pt x="6350" y="344170"/>
                  </a:cubicBezTo>
                  <a:cubicBezTo>
                    <a:pt x="2540" y="314960"/>
                    <a:pt x="1270" y="269240"/>
                    <a:pt x="11430" y="234950"/>
                  </a:cubicBezTo>
                  <a:cubicBezTo>
                    <a:pt x="22860" y="200660"/>
                    <a:pt x="43180" y="166370"/>
                    <a:pt x="68580" y="140970"/>
                  </a:cubicBezTo>
                  <a:cubicBezTo>
                    <a:pt x="92710" y="115570"/>
                    <a:pt x="128270" y="95250"/>
                    <a:pt x="161290" y="83820"/>
                  </a:cubicBezTo>
                  <a:cubicBezTo>
                    <a:pt x="195580" y="73660"/>
                    <a:pt x="227330" y="74930"/>
                    <a:pt x="270510" y="77470"/>
                  </a:cubicBezTo>
                  <a:cubicBezTo>
                    <a:pt x="340360" y="81280"/>
                    <a:pt x="454660" y="107950"/>
                    <a:pt x="534670" y="128270"/>
                  </a:cubicBezTo>
                  <a:cubicBezTo>
                    <a:pt x="604520" y="144780"/>
                    <a:pt x="698500" y="137160"/>
                    <a:pt x="725170" y="186690"/>
                  </a:cubicBezTo>
                  <a:cubicBezTo>
                    <a:pt x="763270" y="261620"/>
                    <a:pt x="579120" y="624840"/>
                    <a:pt x="579120" y="624840"/>
                  </a:cubicBezTo>
                </a:path>
              </a:pathLst>
            </a:custGeom>
            <a:solidFill>
              <a:srgbClr val="000000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BBDAB2-9737-4D3A-F821-E84AA3366810}"/>
                  </a:ext>
                </a:extLst>
              </p14:cNvPr>
              <p14:cNvContentPartPr/>
              <p14:nvPr/>
            </p14:nvContentPartPr>
            <p14:xfrm>
              <a:off x="14731592" y="9046495"/>
              <a:ext cx="227160" cy="310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BBDAB2-9737-4D3A-F821-E84AA33668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22952" y="9037855"/>
                <a:ext cx="24480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CBB584-A66B-4D77-5519-6767AE1F401A}"/>
                  </a:ext>
                </a:extLst>
              </p14:cNvPr>
              <p14:cNvContentPartPr/>
              <p14:nvPr/>
            </p14:nvContentPartPr>
            <p14:xfrm>
              <a:off x="14720160" y="8781060"/>
              <a:ext cx="844560" cy="708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CBB584-A66B-4D77-5519-6767AE1F401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657160" y="8718060"/>
                <a:ext cx="970200" cy="83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17A4921-520F-E6D5-6F78-A402E1472C1B}"/>
                  </a:ext>
                </a:extLst>
              </p14:cNvPr>
              <p14:cNvContentPartPr/>
              <p14:nvPr/>
            </p14:nvContentPartPr>
            <p14:xfrm>
              <a:off x="10488540" y="4696500"/>
              <a:ext cx="698760" cy="696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17A4921-520F-E6D5-6F78-A402E1472C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25900" y="4633500"/>
                <a:ext cx="824400" cy="82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0F04932-9784-312C-5551-F80B877F1BED}"/>
                  </a:ext>
                </a:extLst>
              </p14:cNvPr>
              <p14:cNvContentPartPr/>
              <p14:nvPr/>
            </p14:nvContentPartPr>
            <p14:xfrm>
              <a:off x="15802980" y="7760190"/>
              <a:ext cx="834120" cy="282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0F04932-9784-312C-5551-F80B877F1BE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740340" y="7697550"/>
                <a:ext cx="95976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DB0E243-2491-A518-B217-1309F7F68B13}"/>
                  </a:ext>
                </a:extLst>
              </p14:cNvPr>
              <p14:cNvContentPartPr/>
              <p14:nvPr/>
            </p14:nvContentPartPr>
            <p14:xfrm>
              <a:off x="17674620" y="878187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DB0E243-2491-A518-B217-1309F7F68B1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11620" y="871923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4A349FB-8BA5-B72B-035A-978C14867333}"/>
                  </a:ext>
                </a:extLst>
              </p14:cNvPr>
              <p14:cNvContentPartPr/>
              <p14:nvPr/>
            </p14:nvContentPartPr>
            <p14:xfrm>
              <a:off x="11593920" y="3627960"/>
              <a:ext cx="887760" cy="508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4A349FB-8BA5-B72B-035A-978C1486733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530920" y="3564960"/>
                <a:ext cx="1013400" cy="63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3480221" y="438150"/>
            <a:ext cx="11522357" cy="86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36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COUNTRY-WISE CONTENT DISTRIBUTION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2159488" y="2589723"/>
            <a:ext cx="14375912" cy="7049577"/>
          </a:xfrm>
          <a:custGeom>
            <a:avLst/>
            <a:gdLst/>
            <a:ahLst/>
            <a:cxnLst/>
            <a:rect l="l" t="t" r="r" b="b"/>
            <a:pathLst>
              <a:path w="14375912" h="7049577">
                <a:moveTo>
                  <a:pt x="0" y="0"/>
                </a:moveTo>
                <a:lnTo>
                  <a:pt x="14375913" y="0"/>
                </a:lnTo>
                <a:lnTo>
                  <a:pt x="14375913" y="7049577"/>
                </a:lnTo>
                <a:lnTo>
                  <a:pt x="0" y="7049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87" t="-8769" r="-10859" b="-7441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000563" y="3695700"/>
            <a:ext cx="7230037" cy="34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5"/>
              </a:lnSpc>
              <a:spcBef>
                <a:spcPct val="0"/>
              </a:spcBef>
            </a:pPr>
            <a:r>
              <a:rPr lang="en-US" sz="2332" b="1" dirty="0">
                <a:solidFill>
                  <a:srgbClr val="000000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T</a:t>
            </a:r>
            <a:r>
              <a:rPr lang="en-US" sz="2332" b="1" u="none" strike="noStrike" dirty="0">
                <a:solidFill>
                  <a:srgbClr val="000000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op 3 Content Producing Countries:</a:t>
            </a:r>
          </a:p>
          <a:p>
            <a:pPr marL="503614" lvl="1" indent="-251807" algn="l">
              <a:lnSpc>
                <a:spcPts val="3965"/>
              </a:lnSpc>
              <a:spcBef>
                <a:spcPct val="0"/>
              </a:spcBef>
              <a:buFont typeface="Arial"/>
              <a:buChar char="•"/>
            </a:pPr>
            <a:r>
              <a:rPr lang="en-US" sz="2332" u="none" strike="noStrike" dirty="0">
                <a:solidFill>
                  <a:srgbClr val="000000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United States</a:t>
            </a:r>
          </a:p>
          <a:p>
            <a:pPr marL="503614" lvl="1" indent="-251807" algn="l">
              <a:lnSpc>
                <a:spcPts val="3965"/>
              </a:lnSpc>
              <a:spcBef>
                <a:spcPct val="0"/>
              </a:spcBef>
              <a:buFont typeface="Arial"/>
              <a:buChar char="•"/>
            </a:pPr>
            <a:r>
              <a:rPr lang="en-US" sz="2332" u="none" strike="noStrike" dirty="0">
                <a:solidFill>
                  <a:srgbClr val="000000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India</a:t>
            </a:r>
          </a:p>
          <a:p>
            <a:pPr marL="503614" lvl="1" indent="-251807" algn="l">
              <a:lnSpc>
                <a:spcPts val="3965"/>
              </a:lnSpc>
              <a:spcBef>
                <a:spcPct val="0"/>
              </a:spcBef>
              <a:buFont typeface="Arial"/>
              <a:buChar char="•"/>
            </a:pPr>
            <a:r>
              <a:rPr lang="en-US" sz="2332" u="none" strike="noStrike" dirty="0">
                <a:solidFill>
                  <a:srgbClr val="000000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United Kingdom</a:t>
            </a:r>
            <a:r>
              <a:rPr lang="en-US" sz="2332" b="1" u="none" strike="noStrike" dirty="0">
                <a:solidFill>
                  <a:srgbClr val="000000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</a:t>
            </a:r>
          </a:p>
          <a:p>
            <a:pPr algn="l">
              <a:lnSpc>
                <a:spcPts val="3795"/>
              </a:lnSpc>
              <a:spcBef>
                <a:spcPct val="0"/>
              </a:spcBef>
            </a:pPr>
            <a:r>
              <a:rPr lang="en-US" sz="2232" b="1" u="none" strike="noStrike" dirty="0">
                <a:solidFill>
                  <a:srgbClr val="000000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Insight: </a:t>
            </a:r>
            <a:r>
              <a:rPr lang="en-US" sz="2232" u="none" strike="noStrike" dirty="0">
                <a:solidFill>
                  <a:srgbClr val="000000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Netflix content is globally diverse, but heavily dominated by USA and India.</a:t>
            </a:r>
          </a:p>
          <a:p>
            <a:pPr marL="0" lvl="0" indent="0" algn="l">
              <a:lnSpc>
                <a:spcPts val="3795"/>
              </a:lnSpc>
              <a:spcBef>
                <a:spcPct val="0"/>
              </a:spcBef>
            </a:pPr>
            <a:endParaRPr lang="en-US" sz="2232" u="none" strike="noStrike" dirty="0">
              <a:solidFill>
                <a:srgbClr val="000000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90600" y="1474131"/>
            <a:ext cx="16322788" cy="554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6"/>
              </a:lnSpc>
            </a:pPr>
            <a:r>
              <a:rPr lang="en-US" sz="3297" b="1" dirty="0">
                <a:solidFill>
                  <a:srgbClr val="FFFFFF"/>
                </a:solidFill>
                <a:latin typeface="+mj-lt"/>
                <a:ea typeface="Canva Sans Bold"/>
                <a:cs typeface="Canva Sans Bold"/>
                <a:sym typeface="Canva Sans Bold"/>
              </a:rPr>
              <a:t>This bar chart visualizes how Movies and TV Shows are distributed across different countries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2153114" y="2354066"/>
            <a:ext cx="14338465" cy="7473278"/>
          </a:xfrm>
          <a:custGeom>
            <a:avLst/>
            <a:gdLst/>
            <a:ahLst/>
            <a:cxnLst/>
            <a:rect l="l" t="t" r="r" b="b"/>
            <a:pathLst>
              <a:path w="14338465" h="7473278">
                <a:moveTo>
                  <a:pt x="0" y="0"/>
                </a:moveTo>
                <a:lnTo>
                  <a:pt x="14338466" y="0"/>
                </a:lnTo>
                <a:lnTo>
                  <a:pt x="14338466" y="7473278"/>
                </a:lnTo>
                <a:lnTo>
                  <a:pt x="0" y="7473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28" t="-8815" r="-1084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4114800" y="480396"/>
            <a:ext cx="11522357" cy="902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48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TOP 10 MOST COMMON GENRES.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26258" y="3543300"/>
            <a:ext cx="4141397" cy="249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5"/>
              </a:lnSpc>
              <a:spcBef>
                <a:spcPct val="0"/>
              </a:spcBef>
            </a:pPr>
            <a:r>
              <a:rPr lang="en-US" sz="2332" b="1" dirty="0">
                <a:solidFill>
                  <a:srgbClr val="000000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T</a:t>
            </a:r>
            <a:r>
              <a:rPr lang="en-US" sz="2332" b="1" u="none" strike="noStrike" dirty="0">
                <a:solidFill>
                  <a:srgbClr val="000000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op 3 Common Genres:</a:t>
            </a:r>
          </a:p>
          <a:p>
            <a:pPr marL="503614" lvl="1" indent="-251807" algn="l">
              <a:lnSpc>
                <a:spcPts val="3965"/>
              </a:lnSpc>
              <a:spcBef>
                <a:spcPct val="0"/>
              </a:spcBef>
              <a:buFont typeface="Arial"/>
              <a:buChar char="•"/>
            </a:pPr>
            <a:r>
              <a:rPr lang="en-US" sz="2332" u="none" strike="noStrike" dirty="0">
                <a:solidFill>
                  <a:srgbClr val="000000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International Movies</a:t>
            </a:r>
          </a:p>
          <a:p>
            <a:pPr marL="503614" lvl="1" indent="-251807" algn="l">
              <a:lnSpc>
                <a:spcPts val="3965"/>
              </a:lnSpc>
              <a:spcBef>
                <a:spcPct val="0"/>
              </a:spcBef>
              <a:buFont typeface="Arial"/>
              <a:buChar char="•"/>
            </a:pPr>
            <a:r>
              <a:rPr lang="en-US" sz="2332" u="none" strike="noStrike" dirty="0">
                <a:solidFill>
                  <a:srgbClr val="000000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Dramas</a:t>
            </a:r>
          </a:p>
          <a:p>
            <a:pPr marL="503614" lvl="1" indent="-251807" algn="l">
              <a:lnSpc>
                <a:spcPts val="3965"/>
              </a:lnSpc>
              <a:spcBef>
                <a:spcPct val="0"/>
              </a:spcBef>
              <a:buFont typeface="Arial"/>
              <a:buChar char="•"/>
            </a:pPr>
            <a:r>
              <a:rPr lang="en-US" sz="2332" u="none" strike="noStrike" dirty="0">
                <a:solidFill>
                  <a:srgbClr val="000000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Comedies</a:t>
            </a:r>
          </a:p>
          <a:p>
            <a:pPr marL="0" lvl="0" indent="0" algn="l">
              <a:lnSpc>
                <a:spcPts val="3795"/>
              </a:lnSpc>
              <a:spcBef>
                <a:spcPct val="0"/>
              </a:spcBef>
            </a:pPr>
            <a:endParaRPr lang="en-US" sz="2332" u="none" strike="noStrike" dirty="0">
              <a:solidFill>
                <a:srgbClr val="000000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69856" y="1562100"/>
            <a:ext cx="15618019" cy="47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1"/>
              </a:lnSpc>
            </a:pPr>
            <a:r>
              <a:rPr lang="en-US" sz="2901" b="1" dirty="0">
                <a:solidFill>
                  <a:srgbClr val="FFFFFF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The bar chart compares the distribution of Movies and TV Shows across various genres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685800" y="2013129"/>
            <a:ext cx="12205875" cy="6940371"/>
          </a:xfrm>
          <a:custGeom>
            <a:avLst/>
            <a:gdLst/>
            <a:ahLst/>
            <a:cxnLst/>
            <a:rect l="l" t="t" r="r" b="b"/>
            <a:pathLst>
              <a:path w="11862975" h="6766703">
                <a:moveTo>
                  <a:pt x="0" y="0"/>
                </a:moveTo>
                <a:lnTo>
                  <a:pt x="11862975" y="0"/>
                </a:lnTo>
                <a:lnTo>
                  <a:pt x="11862975" y="6766703"/>
                </a:lnTo>
                <a:lnTo>
                  <a:pt x="0" y="6766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5" t="-463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724400" y="495300"/>
            <a:ext cx="9489727" cy="914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31"/>
              </a:lnSpc>
            </a:pPr>
            <a:r>
              <a:rPr lang="en-US" sz="40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TOP 10 DIRECTORS ON NETFLIX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89583" y="1998127"/>
            <a:ext cx="4698392" cy="310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2432" b="1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Top 3 Movies Director:</a:t>
            </a:r>
          </a:p>
          <a:p>
            <a:pPr marL="525204" lvl="1" indent="-262602" algn="l">
              <a:lnSpc>
                <a:spcPts val="4135"/>
              </a:lnSpc>
              <a:buFont typeface="Arial"/>
              <a:buChar char="•"/>
            </a:pP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Rajiv Chilaka With 22 Movies</a:t>
            </a:r>
          </a:p>
          <a:p>
            <a:pPr marL="525204" lvl="1" indent="-262602" algn="l">
              <a:lnSpc>
                <a:spcPts val="4135"/>
              </a:lnSpc>
              <a:buFont typeface="Arial"/>
              <a:buChar char="•"/>
            </a:pP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Jan Suter With 21 Movies</a:t>
            </a:r>
          </a:p>
          <a:p>
            <a:pPr marL="525204" lvl="1" indent="-262602" algn="l">
              <a:lnSpc>
                <a:spcPts val="4135"/>
              </a:lnSpc>
              <a:buFont typeface="Arial"/>
              <a:buChar char="•"/>
            </a:pP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Raul Campos With 19 Movies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68621" y="5463155"/>
            <a:ext cx="4698392" cy="310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2432" b="1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Top 3 TV Shows Director:</a:t>
            </a:r>
          </a:p>
          <a:p>
            <a:pPr marL="525204" lvl="1" indent="-262602" algn="l">
              <a:lnSpc>
                <a:spcPts val="4135"/>
              </a:lnSpc>
              <a:buFont typeface="Arial"/>
              <a:buChar char="•"/>
            </a:pP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Alastair Fothergill With 3 TV Shows</a:t>
            </a:r>
          </a:p>
          <a:p>
            <a:pPr marL="525204" lvl="1" indent="-262602" algn="l">
              <a:lnSpc>
                <a:spcPts val="4135"/>
              </a:lnSpc>
              <a:buFont typeface="Arial"/>
              <a:buChar char="•"/>
            </a:pP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Ken Burns With 2 TV Shows</a:t>
            </a:r>
          </a:p>
          <a:p>
            <a:pPr marL="525204" lvl="1" indent="-262602" algn="l">
              <a:lnSpc>
                <a:spcPts val="4135"/>
              </a:lnSpc>
              <a:buFont typeface="Arial"/>
              <a:buChar char="•"/>
            </a:pP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Rob </a:t>
            </a:r>
            <a:r>
              <a:rPr lang="en-US" sz="2432" b="1" dirty="0" err="1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Seidenglanz</a:t>
            </a: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 With 2 TV Shows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5748054" y="2224570"/>
            <a:ext cx="12173979" cy="6881330"/>
          </a:xfrm>
          <a:custGeom>
            <a:avLst/>
            <a:gdLst/>
            <a:ahLst/>
            <a:cxnLst/>
            <a:rect l="l" t="t" r="r" b="b"/>
            <a:pathLst>
              <a:path w="11967285" h="6686720">
                <a:moveTo>
                  <a:pt x="0" y="0"/>
                </a:moveTo>
                <a:lnTo>
                  <a:pt x="11967285" y="0"/>
                </a:lnTo>
                <a:lnTo>
                  <a:pt x="11967285" y="6686721"/>
                </a:lnTo>
                <a:lnTo>
                  <a:pt x="0" y="6686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912073" y="647700"/>
            <a:ext cx="8666318" cy="91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1"/>
              </a:lnSpc>
            </a:pPr>
            <a:r>
              <a:rPr lang="en-US" sz="4000" b="1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TOP 10 GENRES ON NETFLIX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9662" y="2121952"/>
            <a:ext cx="4698392" cy="2579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2432" b="1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Top 3 Movies Genres:</a:t>
            </a:r>
          </a:p>
          <a:p>
            <a:pPr marL="525204" lvl="1" indent="-262602" algn="l">
              <a:lnSpc>
                <a:spcPts val="4135"/>
              </a:lnSpc>
              <a:buFont typeface="Arial"/>
              <a:buChar char="•"/>
            </a:pP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Dramas With 2393 Titles</a:t>
            </a:r>
          </a:p>
          <a:p>
            <a:pPr marL="525204" lvl="1" indent="-262602" algn="l">
              <a:lnSpc>
                <a:spcPts val="4135"/>
              </a:lnSpc>
              <a:buFont typeface="Arial"/>
              <a:buChar char="•"/>
            </a:pP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Comedies With 1657 Titles</a:t>
            </a:r>
          </a:p>
          <a:p>
            <a:pPr marL="525204" lvl="1" indent="-262602" algn="l">
              <a:lnSpc>
                <a:spcPts val="4135"/>
              </a:lnSpc>
              <a:buFont typeface="Arial"/>
              <a:buChar char="•"/>
            </a:pP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Action &amp; Adventure With 841 Titles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5453630"/>
            <a:ext cx="4698392" cy="2568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2432" b="1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Top 3 TV Shows Genres:</a:t>
            </a:r>
          </a:p>
          <a:p>
            <a:pPr marL="525204" lvl="1" indent="-262602" algn="l">
              <a:lnSpc>
                <a:spcPts val="4135"/>
              </a:lnSpc>
              <a:buFont typeface="Arial"/>
              <a:buChar char="•"/>
            </a:pP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TV Dramas With 737 Titles</a:t>
            </a:r>
          </a:p>
          <a:p>
            <a:pPr marL="525204" lvl="1" indent="-262602" algn="l">
              <a:lnSpc>
                <a:spcPts val="4135"/>
              </a:lnSpc>
              <a:buFont typeface="Arial"/>
              <a:buChar char="•"/>
            </a:pP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TV Comedies With 539 Titles</a:t>
            </a:r>
          </a:p>
          <a:p>
            <a:pPr marL="525204" lvl="1" indent="-262602" algn="l">
              <a:lnSpc>
                <a:spcPts val="4135"/>
              </a:lnSpc>
              <a:buFont typeface="Arial"/>
              <a:buChar char="•"/>
            </a:pPr>
            <a:r>
              <a:rPr lang="en-US" sz="243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Crime Shows with 417 Titles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714904" y="2579613"/>
            <a:ext cx="11862975" cy="6766703"/>
          </a:xfrm>
          <a:custGeom>
            <a:avLst/>
            <a:gdLst/>
            <a:ahLst/>
            <a:cxnLst/>
            <a:rect l="l" t="t" r="r" b="b"/>
            <a:pathLst>
              <a:path w="11862975" h="6766703">
                <a:moveTo>
                  <a:pt x="0" y="0"/>
                </a:moveTo>
                <a:lnTo>
                  <a:pt x="11862975" y="0"/>
                </a:lnTo>
                <a:lnTo>
                  <a:pt x="11862975" y="6766703"/>
                </a:lnTo>
                <a:lnTo>
                  <a:pt x="0" y="6766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710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1886" y="461201"/>
            <a:ext cx="15308222" cy="814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4"/>
              </a:lnSpc>
            </a:pPr>
            <a:r>
              <a:rPr lang="en-US" sz="36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CLASSIFICATION OF CONTENT ON NETFLIX AS AGE WISE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93647" y="2579613"/>
            <a:ext cx="5318153" cy="332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2572" b="1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Movies Insights:</a:t>
            </a:r>
          </a:p>
          <a:p>
            <a:pPr marL="555448" lvl="1" indent="-277724" algn="l">
              <a:lnSpc>
                <a:spcPts val="4373"/>
              </a:lnSpc>
              <a:buFont typeface="Arial"/>
              <a:buChar char="•"/>
            </a:pPr>
            <a:r>
              <a:rPr lang="en-US" sz="257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47% of movies are targeted toward Adults.</a:t>
            </a:r>
          </a:p>
          <a:p>
            <a:pPr marL="555448" lvl="1" indent="-277724" algn="l">
              <a:lnSpc>
                <a:spcPts val="4373"/>
              </a:lnSpc>
              <a:buFont typeface="Arial"/>
              <a:buChar char="•"/>
            </a:pPr>
            <a:r>
              <a:rPr lang="en-US" sz="257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32% cater to Teens, and 21% to Kids.</a:t>
            </a:r>
          </a:p>
          <a:p>
            <a:pPr algn="l">
              <a:lnSpc>
                <a:spcPts val="4373"/>
              </a:lnSpc>
            </a:pPr>
            <a:endParaRPr lang="en-US" sz="2572" b="1" dirty="0">
              <a:solidFill>
                <a:srgbClr val="FFFFFF">
                  <a:alpha val="80000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893647" y="5780796"/>
            <a:ext cx="5318153" cy="332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2572" b="1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TV Shows Insights:</a:t>
            </a:r>
          </a:p>
          <a:p>
            <a:pPr marL="555448" lvl="1" indent="-277724" algn="l">
              <a:lnSpc>
                <a:spcPts val="4373"/>
              </a:lnSpc>
              <a:buFont typeface="Arial"/>
              <a:buChar char="•"/>
            </a:pPr>
            <a:r>
              <a:rPr lang="en-US" sz="257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44% of shows are meant for Adults,</a:t>
            </a:r>
          </a:p>
          <a:p>
            <a:pPr marL="555448" lvl="1" indent="-277724" algn="l">
              <a:lnSpc>
                <a:spcPts val="4373"/>
              </a:lnSpc>
              <a:buFont typeface="Arial"/>
              <a:buChar char="•"/>
            </a:pPr>
            <a:r>
              <a:rPr lang="en-US" sz="257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29% for Kids, and</a:t>
            </a:r>
          </a:p>
          <a:p>
            <a:pPr marL="555448" lvl="1" indent="-277724" algn="l">
              <a:lnSpc>
                <a:spcPts val="4373"/>
              </a:lnSpc>
              <a:buFont typeface="Arial"/>
              <a:buChar char="•"/>
            </a:pPr>
            <a:r>
              <a:rPr lang="en-US" sz="2572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28% for Teens.</a:t>
            </a:r>
          </a:p>
          <a:p>
            <a:pPr algn="l">
              <a:lnSpc>
                <a:spcPts val="4373"/>
              </a:lnSpc>
            </a:pPr>
            <a:endParaRPr lang="en-US" sz="2572" b="1" dirty="0">
              <a:solidFill>
                <a:srgbClr val="FFFFFF">
                  <a:alpha val="80000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28489" y="1403224"/>
            <a:ext cx="15618019" cy="101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1"/>
              </a:lnSpc>
            </a:pPr>
            <a:r>
              <a:rPr lang="en-US" sz="2901" b="1" dirty="0">
                <a:solidFill>
                  <a:srgbClr val="FFFFFF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This visualization consists of two pie charts comparing the classification of Movies and TV Shows on Netflix based on the target audience — Adults, Teens, and Kids.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544725" y="2091922"/>
            <a:ext cx="12204210" cy="7063187"/>
          </a:xfrm>
          <a:custGeom>
            <a:avLst/>
            <a:gdLst/>
            <a:ahLst/>
            <a:cxnLst/>
            <a:rect l="l" t="t" r="r" b="b"/>
            <a:pathLst>
              <a:path w="12204210" h="7063187">
                <a:moveTo>
                  <a:pt x="0" y="0"/>
                </a:moveTo>
                <a:lnTo>
                  <a:pt x="12204210" y="0"/>
                </a:lnTo>
                <a:lnTo>
                  <a:pt x="12204210" y="7063186"/>
                </a:lnTo>
                <a:lnTo>
                  <a:pt x="0" y="7063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084204" y="541782"/>
            <a:ext cx="15229498" cy="62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1"/>
              </a:lnSpc>
            </a:pPr>
            <a:r>
              <a:rPr lang="en-US" sz="28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MOVIES ON NETFLIX — YEAR-WISE, MONTH-WISE, AND DAY-WISE TRENDS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071829" y="1538609"/>
            <a:ext cx="4944079" cy="3102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391" b="1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Year Wise Insights:</a:t>
            </a:r>
          </a:p>
          <a:p>
            <a:pPr marL="516378" lvl="1" indent="-258189" algn="l">
              <a:lnSpc>
                <a:spcPts val="4065"/>
              </a:lnSpc>
              <a:buFont typeface="Arial"/>
              <a:buChar char="•"/>
            </a:pPr>
            <a:r>
              <a:rPr lang="en-US" sz="2391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Rapid growth in titles added post-2016.</a:t>
            </a:r>
          </a:p>
          <a:p>
            <a:pPr marL="516378" lvl="1" indent="-258189" algn="l">
              <a:lnSpc>
                <a:spcPts val="4065"/>
              </a:lnSpc>
              <a:buFont typeface="Arial"/>
              <a:buChar char="•"/>
            </a:pPr>
            <a:r>
              <a:rPr lang="en-US" sz="2391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Peak in 2019 with over 1,412 movies released.</a:t>
            </a:r>
          </a:p>
          <a:p>
            <a:pPr algn="l">
              <a:lnSpc>
                <a:spcPts val="4065"/>
              </a:lnSpc>
            </a:pPr>
            <a:endParaRPr lang="en-US" sz="2391" b="1" dirty="0">
              <a:solidFill>
                <a:srgbClr val="FFFFFF">
                  <a:alpha val="80000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080684" y="4158323"/>
            <a:ext cx="4944079" cy="257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391" b="1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Month Wise Insights:</a:t>
            </a:r>
          </a:p>
          <a:p>
            <a:pPr marL="516378" lvl="1" indent="-258189" algn="l">
              <a:lnSpc>
                <a:spcPts val="4065"/>
              </a:lnSpc>
              <a:buFont typeface="Arial"/>
              <a:buChar char="•"/>
            </a:pPr>
            <a:r>
              <a:rPr lang="en-US" sz="2391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Most movies are added in July (559).</a:t>
            </a:r>
          </a:p>
          <a:p>
            <a:pPr marL="516378" lvl="1" indent="-258189" algn="l">
              <a:lnSpc>
                <a:spcPts val="4065"/>
              </a:lnSpc>
              <a:buFont typeface="Arial"/>
              <a:buChar char="•"/>
            </a:pPr>
            <a:r>
              <a:rPr lang="en-US" sz="2391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February has the lowest count</a:t>
            </a:r>
          </a:p>
          <a:p>
            <a:pPr algn="l">
              <a:lnSpc>
                <a:spcPts val="4065"/>
              </a:lnSpc>
            </a:pPr>
            <a:endParaRPr lang="en-US" sz="2391" b="1" dirty="0">
              <a:solidFill>
                <a:srgbClr val="FFFFFF">
                  <a:alpha val="80000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089539" y="6750816"/>
            <a:ext cx="4944079" cy="2567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391" b="1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Day Wise Insights:</a:t>
            </a:r>
          </a:p>
          <a:p>
            <a:pPr marL="516378" lvl="1" indent="-258189" algn="l">
              <a:lnSpc>
                <a:spcPts val="4065"/>
              </a:lnSpc>
              <a:buFont typeface="Arial"/>
              <a:buChar char="•"/>
            </a:pPr>
            <a:r>
              <a:rPr lang="en-US" sz="2391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Friday is the dominant release day with 1,537 movies.</a:t>
            </a:r>
          </a:p>
          <a:p>
            <a:pPr marL="516378" lvl="1" indent="-258189" algn="l">
              <a:lnSpc>
                <a:spcPts val="4065"/>
              </a:lnSpc>
              <a:buFont typeface="Arial"/>
              <a:buChar char="•"/>
            </a:pPr>
            <a:r>
              <a:rPr lang="en-US" sz="2391" b="1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Midweek releases (Tuesday–Thursday) are also frequent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5337397" y="2559576"/>
            <a:ext cx="12341003" cy="6463600"/>
          </a:xfrm>
          <a:custGeom>
            <a:avLst/>
            <a:gdLst/>
            <a:ahLst/>
            <a:cxnLst/>
            <a:rect l="l" t="t" r="r" b="b"/>
            <a:pathLst>
              <a:path w="12341003" h="6463600">
                <a:moveTo>
                  <a:pt x="0" y="0"/>
                </a:moveTo>
                <a:lnTo>
                  <a:pt x="12341003" y="0"/>
                </a:lnTo>
                <a:lnTo>
                  <a:pt x="12341003" y="6463600"/>
                </a:lnTo>
                <a:lnTo>
                  <a:pt x="0" y="646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968088" y="466725"/>
            <a:ext cx="13938787" cy="87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40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MOST POPULAR TV SHOWS GENRES ON NETFLIX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0129" y="5257800"/>
            <a:ext cx="4727269" cy="425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2"/>
              </a:lnSpc>
              <a:spcBef>
                <a:spcPct val="0"/>
              </a:spcBef>
            </a:pPr>
            <a:r>
              <a:rPr lang="en-US" sz="2800" b="1" u="none" strike="noStrike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Most </a:t>
            </a:r>
            <a:r>
              <a:rPr lang="en-US" sz="2400" b="1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D</a:t>
            </a:r>
            <a:r>
              <a:rPr lang="en-US" sz="2400" b="1" u="none" strike="noStrike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ominant</a:t>
            </a:r>
            <a:r>
              <a:rPr lang="en-US" sz="2800" b="1" u="none" strike="noStrike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 Genres</a:t>
            </a:r>
            <a:r>
              <a:rPr lang="en-US" sz="2800" u="none" strike="noStrike" dirty="0">
                <a:solidFill>
                  <a:srgbClr val="FFFFFF">
                    <a:alpha val="80000"/>
                  </a:srgbClr>
                </a:solidFill>
                <a:latin typeface="Arial Black" panose="020B0A04020102020204" pitchFamily="34" charset="0"/>
                <a:ea typeface="Open Sans"/>
                <a:cs typeface="Open Sans"/>
                <a:sym typeface="Open Sans"/>
              </a:rPr>
              <a:t>:</a:t>
            </a:r>
          </a:p>
          <a:p>
            <a:pPr marL="608015" lvl="1" indent="-304008" algn="l">
              <a:lnSpc>
                <a:spcPts val="4787"/>
              </a:lnSpc>
              <a:spcBef>
                <a:spcPct val="0"/>
              </a:spcBef>
              <a:buFont typeface="Arial"/>
              <a:buChar char="•"/>
            </a:pPr>
            <a:r>
              <a:rPr lang="en-US" sz="2800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International TV</a:t>
            </a:r>
          </a:p>
          <a:p>
            <a:pPr marL="608015" lvl="1" indent="-304008" algn="l">
              <a:lnSpc>
                <a:spcPts val="4787"/>
              </a:lnSpc>
              <a:spcBef>
                <a:spcPct val="0"/>
              </a:spcBef>
              <a:buFont typeface="Arial"/>
              <a:buChar char="•"/>
            </a:pPr>
            <a:r>
              <a:rPr lang="en-US" sz="2800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TV Shows</a:t>
            </a:r>
          </a:p>
          <a:p>
            <a:pPr marL="608015" lvl="1" indent="-304008" algn="l">
              <a:lnSpc>
                <a:spcPts val="4787"/>
              </a:lnSpc>
              <a:spcBef>
                <a:spcPct val="0"/>
              </a:spcBef>
              <a:buFont typeface="Arial"/>
              <a:buChar char="•"/>
            </a:pPr>
            <a:r>
              <a:rPr lang="en-US" sz="2800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Shows International</a:t>
            </a:r>
          </a:p>
          <a:p>
            <a:pPr marL="608015" lvl="1" indent="-304008" algn="l">
              <a:lnSpc>
                <a:spcPts val="4787"/>
              </a:lnSpc>
              <a:spcBef>
                <a:spcPct val="0"/>
              </a:spcBef>
              <a:buFont typeface="Arial"/>
              <a:buChar char="•"/>
            </a:pPr>
            <a:r>
              <a:rPr lang="en-US" sz="2800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TV Dramas</a:t>
            </a:r>
          </a:p>
          <a:p>
            <a:pPr algn="l">
              <a:lnSpc>
                <a:spcPts val="4787"/>
              </a:lnSpc>
              <a:spcBef>
                <a:spcPct val="0"/>
              </a:spcBef>
            </a:pPr>
            <a:endParaRPr lang="en-US" sz="2800" u="none" strike="noStrike" dirty="0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4582"/>
              </a:lnSpc>
              <a:spcBef>
                <a:spcPct val="0"/>
              </a:spcBef>
            </a:pPr>
            <a:endParaRPr lang="en-US" sz="2800" u="none" strike="noStrike" dirty="0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81011" y="1733057"/>
            <a:ext cx="16197389" cy="5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8"/>
              </a:lnSpc>
            </a:pPr>
            <a:r>
              <a:rPr lang="en-US" sz="3177" b="1" dirty="0">
                <a:solidFill>
                  <a:srgbClr val="FFFFFF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This word cloud visualizes the frequency of different TV Shows genres on Netflix.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8229" y="2824480"/>
            <a:ext cx="4401086" cy="225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FFFFFF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Larger words indicate genres that appear more frequently in the dataset.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685800" y="2942545"/>
            <a:ext cx="12204210" cy="6391955"/>
          </a:xfrm>
          <a:custGeom>
            <a:avLst/>
            <a:gdLst/>
            <a:ahLst/>
            <a:cxnLst/>
            <a:rect l="l" t="t" r="r" b="b"/>
            <a:pathLst>
              <a:path w="12204210" h="6391955">
                <a:moveTo>
                  <a:pt x="0" y="0"/>
                </a:moveTo>
                <a:lnTo>
                  <a:pt x="12204210" y="0"/>
                </a:lnTo>
                <a:lnTo>
                  <a:pt x="12204210" y="6391955"/>
                </a:lnTo>
                <a:lnTo>
                  <a:pt x="0" y="639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138157" y="666750"/>
            <a:ext cx="13375927" cy="87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40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MOST POPULAR MOVIE GENRES ON NETFLIX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24933" y="5525859"/>
            <a:ext cx="4750252" cy="3639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7"/>
              </a:lnSpc>
              <a:spcBef>
                <a:spcPct val="0"/>
              </a:spcBef>
            </a:pPr>
            <a:r>
              <a:rPr lang="en-US" sz="2800" b="1" u="none" strike="noStrike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Most Dominant </a:t>
            </a:r>
            <a:r>
              <a:rPr lang="en-US" sz="2800" b="1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G</a:t>
            </a:r>
            <a:r>
              <a:rPr lang="en-US" sz="2800" b="1" u="none" strike="noStrike" dirty="0">
                <a:solidFill>
                  <a:srgbClr val="E50914">
                    <a:alpha val="80000"/>
                  </a:srgbClr>
                </a:solidFill>
                <a:latin typeface="Arial Black" panose="020B0A04020102020204" pitchFamily="34" charset="0"/>
                <a:ea typeface="Open Sans Bold"/>
                <a:cs typeface="Open Sans Bold"/>
                <a:sym typeface="Open Sans Bold"/>
              </a:rPr>
              <a:t>enres</a:t>
            </a:r>
            <a:r>
              <a:rPr lang="en-US" sz="2800" u="none" strike="noStrike" dirty="0">
                <a:solidFill>
                  <a:srgbClr val="FFFFFF">
                    <a:alpha val="80000"/>
                  </a:srgbClr>
                </a:solidFill>
                <a:latin typeface="Arial Black" panose="020B0A04020102020204" pitchFamily="34" charset="0"/>
                <a:ea typeface="Open Sans"/>
                <a:cs typeface="Open Sans"/>
                <a:sym typeface="Open Sans"/>
              </a:rPr>
              <a:t>:</a:t>
            </a:r>
          </a:p>
          <a:p>
            <a:pPr marL="610971" lvl="1" indent="-305486" algn="l">
              <a:lnSpc>
                <a:spcPts val="481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International Movies</a:t>
            </a:r>
          </a:p>
          <a:p>
            <a:pPr marL="610971" lvl="1" indent="-305486" algn="l">
              <a:lnSpc>
                <a:spcPts val="481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Dramas</a:t>
            </a:r>
          </a:p>
          <a:p>
            <a:pPr marL="610971" lvl="1" indent="-305486" algn="l">
              <a:lnSpc>
                <a:spcPts val="481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Comedies</a:t>
            </a:r>
          </a:p>
          <a:p>
            <a:pPr marL="610971" lvl="1" indent="-305486" algn="l">
              <a:lnSpc>
                <a:spcPts val="481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Action &amp; Adventure</a:t>
            </a:r>
          </a:p>
          <a:p>
            <a:pPr marL="0" lvl="0" indent="0" algn="l">
              <a:lnSpc>
                <a:spcPts val="4604"/>
              </a:lnSpc>
              <a:spcBef>
                <a:spcPct val="0"/>
              </a:spcBef>
            </a:pPr>
            <a:endParaRPr lang="en-US" sz="2800" u="none" strike="noStrike" dirty="0">
              <a:solidFill>
                <a:srgbClr val="FFFFFF">
                  <a:alpha val="80000"/>
                </a:srgb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81011" y="1928566"/>
            <a:ext cx="15513341" cy="5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8"/>
              </a:lnSpc>
            </a:pPr>
            <a:r>
              <a:rPr lang="en-US" sz="3177" b="1" dirty="0">
                <a:solidFill>
                  <a:srgbClr val="FFFFFF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This word cloud visualizes the frequency of different movie genres on Netflix.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53508" y="3187789"/>
            <a:ext cx="4401086" cy="225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FFFFFF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Larger words indicate genres that appear more frequently in the dataset.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457200" y="2592953"/>
            <a:ext cx="6665347" cy="666534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 rot="6000">
              <a:off x="-391" y="-391"/>
              <a:ext cx="813582" cy="813582"/>
            </a:xfrm>
            <a:custGeom>
              <a:avLst/>
              <a:gdLst/>
              <a:ahLst/>
              <a:cxnLst/>
              <a:rect l="l" t="t" r="r" b="b"/>
              <a:pathLst>
                <a:path w="813582" h="813582">
                  <a:moveTo>
                    <a:pt x="406082" y="392"/>
                  </a:moveTo>
                  <a:cubicBezTo>
                    <a:pt x="181634" y="783"/>
                    <a:pt x="0" y="183052"/>
                    <a:pt x="392" y="407500"/>
                  </a:cubicBezTo>
                  <a:cubicBezTo>
                    <a:pt x="783" y="631948"/>
                    <a:pt x="183052" y="813582"/>
                    <a:pt x="407500" y="813190"/>
                  </a:cubicBezTo>
                  <a:cubicBezTo>
                    <a:pt x="631948" y="812799"/>
                    <a:pt x="813582" y="630530"/>
                    <a:pt x="813190" y="406082"/>
                  </a:cubicBezTo>
                  <a:cubicBezTo>
                    <a:pt x="812799" y="181634"/>
                    <a:pt x="630530" y="0"/>
                    <a:pt x="406082" y="392"/>
                  </a:cubicBezTo>
                  <a:close/>
                </a:path>
              </a:pathLst>
            </a:custGeom>
            <a:blipFill>
              <a:blip r:embed="rId2"/>
              <a:stretch>
                <a:fillRect l="-73125" t="-48099" r="-73492" b="-54539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973119" y="990600"/>
            <a:ext cx="15109095" cy="116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70"/>
              </a:lnSpc>
            </a:pPr>
            <a:r>
              <a:rPr lang="en-US" sz="54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KEY INSIGHTS OF NETFLIX PROJECT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54456" y="3605598"/>
            <a:ext cx="10743069" cy="388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212" lvl="1" indent="-390606" algn="l">
              <a:lnSpc>
                <a:spcPts val="6151"/>
              </a:lnSpc>
              <a:spcBef>
                <a:spcPct val="0"/>
              </a:spcBef>
              <a:buFont typeface="Arial"/>
              <a:buChar char="•"/>
            </a:pPr>
            <a:r>
              <a:rPr lang="en-US" sz="3618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Maj</a:t>
            </a:r>
            <a:r>
              <a:rPr lang="en-US" sz="3618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ority of Netflix content is Movies.</a:t>
            </a:r>
          </a:p>
          <a:p>
            <a:pPr marL="781212" lvl="1" indent="-390606" algn="l">
              <a:lnSpc>
                <a:spcPts val="6151"/>
              </a:lnSpc>
              <a:spcBef>
                <a:spcPct val="0"/>
              </a:spcBef>
              <a:buFont typeface="Arial"/>
              <a:buChar char="•"/>
            </a:pPr>
            <a:r>
              <a:rPr lang="en-US" sz="3618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TV Shows increasing over time.</a:t>
            </a:r>
          </a:p>
          <a:p>
            <a:pPr marL="781212" lvl="1" indent="-390606" algn="l">
              <a:lnSpc>
                <a:spcPts val="6151"/>
              </a:lnSpc>
              <a:spcBef>
                <a:spcPct val="0"/>
              </a:spcBef>
              <a:buFont typeface="Arial"/>
              <a:buChar char="•"/>
            </a:pPr>
            <a:r>
              <a:rPr lang="en-US" sz="3618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Netflix focuses on mature audience content.</a:t>
            </a:r>
          </a:p>
          <a:p>
            <a:pPr marL="781212" lvl="1" indent="-390606" algn="l">
              <a:lnSpc>
                <a:spcPts val="6151"/>
              </a:lnSpc>
              <a:spcBef>
                <a:spcPct val="0"/>
              </a:spcBef>
              <a:buFont typeface="Arial"/>
              <a:buChar char="•"/>
            </a:pPr>
            <a:r>
              <a:rPr lang="en-US" sz="3618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U.S. and India are leading content contributors.</a:t>
            </a:r>
          </a:p>
          <a:p>
            <a:pPr marL="0" lvl="0" indent="0" algn="l">
              <a:lnSpc>
                <a:spcPts val="6151"/>
              </a:lnSpc>
              <a:spcBef>
                <a:spcPct val="0"/>
              </a:spcBef>
            </a:pPr>
            <a:endParaRPr lang="en-US" sz="3618" u="none" strike="noStrike" dirty="0">
              <a:solidFill>
                <a:srgbClr val="FFFFFF">
                  <a:alpha val="80000"/>
                </a:srgbClr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8332825" y="3132041"/>
            <a:ext cx="514385" cy="51438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091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457200" y="3695700"/>
            <a:ext cx="7174385" cy="3810000"/>
          </a:xfrm>
          <a:prstGeom prst="flowChartAlternateProcess">
            <a:avLst/>
          </a:prstGeom>
          <a:blipFill>
            <a:blip r:embed="rId2"/>
            <a:stretch>
              <a:fillRect l="-14300" t="-80331" r="-11790" b="-82829"/>
            </a:stretch>
          </a:blipFill>
          <a:ln>
            <a:solidFill>
              <a:schemeClr val="bg1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Box 18"/>
          <p:cNvSpPr txBox="1"/>
          <p:nvPr/>
        </p:nvSpPr>
        <p:spPr>
          <a:xfrm>
            <a:off x="5664193" y="721951"/>
            <a:ext cx="7174384" cy="15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35"/>
              </a:lnSpc>
            </a:pPr>
            <a:r>
              <a:rPr lang="en-US" sz="72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20143" y="3104515"/>
            <a:ext cx="7289265" cy="541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1"/>
              </a:lnSpc>
            </a:pPr>
            <a:r>
              <a:rPr lang="en-US" sz="3215" b="1" spc="205" dirty="0">
                <a:solidFill>
                  <a:srgbClr val="FFFFFF"/>
                </a:solidFill>
                <a:latin typeface="Arial Black" panose="020B0A04020102020204" pitchFamily="34" charset="0"/>
                <a:ea typeface="Montserrat Bold"/>
                <a:cs typeface="Montserrat Bold"/>
                <a:sym typeface="Montserrat Bold"/>
              </a:rPr>
              <a:t>The Future of Data Analysis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91832" y="4000500"/>
            <a:ext cx="8448368" cy="4767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7953" lvl="1" indent="-343976" algn="l">
              <a:lnSpc>
                <a:spcPts val="5416"/>
              </a:lnSpc>
              <a:spcBef>
                <a:spcPct val="0"/>
              </a:spcBef>
              <a:buFont typeface="Arial"/>
              <a:buChar char="•"/>
            </a:pPr>
            <a:r>
              <a:rPr lang="en-US" sz="3186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</a:t>
            </a:r>
            <a:r>
              <a:rPr lang="en-US" sz="3186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etflix continues to expand with diverse and international content.</a:t>
            </a:r>
          </a:p>
          <a:p>
            <a:pPr marL="687953" lvl="1" indent="-343976" algn="l">
              <a:lnSpc>
                <a:spcPts val="5416"/>
              </a:lnSpc>
              <a:spcBef>
                <a:spcPct val="0"/>
              </a:spcBef>
              <a:buFont typeface="Arial"/>
              <a:buChar char="•"/>
            </a:pPr>
            <a:r>
              <a:rPr lang="en-US" sz="3186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Trends reveal strong focus on adult entertainment.</a:t>
            </a:r>
          </a:p>
          <a:p>
            <a:pPr marL="687953" lvl="1" indent="-343976" algn="l">
              <a:lnSpc>
                <a:spcPts val="5416"/>
              </a:lnSpc>
              <a:spcBef>
                <a:spcPct val="0"/>
              </a:spcBef>
              <a:buFont typeface="Arial"/>
              <a:buChar char="•"/>
            </a:pPr>
            <a:r>
              <a:rPr lang="en-US" sz="3186" u="none" strike="noStrike" dirty="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Insights can guide future recommendations and marketing strategies.</a:t>
            </a:r>
          </a:p>
          <a:p>
            <a:pPr marL="0" lvl="0" indent="0" algn="l">
              <a:lnSpc>
                <a:spcPts val="5416"/>
              </a:lnSpc>
              <a:spcBef>
                <a:spcPct val="0"/>
              </a:spcBef>
            </a:pPr>
            <a:endParaRPr lang="en-US" sz="3186" u="none" strike="noStrike" dirty="0">
              <a:solidFill>
                <a:srgbClr val="FFFFFF">
                  <a:alpha val="80000"/>
                </a:srgbClr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8428075" y="3177665"/>
            <a:ext cx="419135" cy="423138"/>
            <a:chOff x="0" y="0"/>
            <a:chExt cx="812800" cy="82056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20562"/>
            </a:xfrm>
            <a:custGeom>
              <a:avLst/>
              <a:gdLst/>
              <a:ahLst/>
              <a:cxnLst/>
              <a:rect l="l" t="t" r="r" b="b"/>
              <a:pathLst>
                <a:path w="812800" h="820562">
                  <a:moveTo>
                    <a:pt x="406400" y="0"/>
                  </a:moveTo>
                  <a:cubicBezTo>
                    <a:pt x="181951" y="0"/>
                    <a:pt x="0" y="183689"/>
                    <a:pt x="0" y="410281"/>
                  </a:cubicBezTo>
                  <a:cubicBezTo>
                    <a:pt x="0" y="636873"/>
                    <a:pt x="181951" y="820562"/>
                    <a:pt x="406400" y="820562"/>
                  </a:cubicBezTo>
                  <a:cubicBezTo>
                    <a:pt x="630849" y="820562"/>
                    <a:pt x="812800" y="636873"/>
                    <a:pt x="812800" y="410281"/>
                  </a:cubicBezTo>
                  <a:cubicBezTo>
                    <a:pt x="812800" y="18368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091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48353"/>
              <a:ext cx="660400" cy="695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9497"/>
            <a:ext cx="18288000" cy="1035459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885863" y="3162300"/>
            <a:ext cx="14516274" cy="347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66"/>
              </a:lnSpc>
            </a:pPr>
            <a:r>
              <a:rPr lang="en-US" sz="14800" dirty="0">
                <a:solidFill>
                  <a:srgbClr val="E50914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THANK </a:t>
            </a:r>
            <a:r>
              <a:rPr lang="en-US" sz="14800" dirty="0">
                <a:solidFill>
                  <a:srgbClr val="FFFFFF"/>
                </a:solidFill>
                <a:latin typeface="Arial Black" panose="020B0A04020102020204" pitchFamily="34" charset="0"/>
                <a:ea typeface="Anton"/>
                <a:cs typeface="Anton"/>
                <a:sym typeface="Anton"/>
              </a:rPr>
              <a:t>YOU!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28916" y="9058516"/>
            <a:ext cx="399568" cy="39956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091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402137" y="1525959"/>
            <a:ext cx="712885" cy="71288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091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5000">
        <p:random/>
      </p:transition>
    </mc:Choice>
    <mc:Fallback>
      <p:transition spd="slow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3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3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649</Words>
  <Application>Microsoft Office PowerPoint</Application>
  <PresentationFormat>Custom</PresentationFormat>
  <Paragraphs>110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Open Sans</vt:lpstr>
      <vt:lpstr>Montserrat Bold</vt:lpstr>
      <vt:lpstr>Canva Sans</vt:lpstr>
      <vt:lpstr>Arial Black</vt:lpstr>
      <vt:lpstr>Open Sans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DATA ANALYSIS PROJECT USING PYTHON</dc:title>
  <dc:creator>Mr. Parth</dc:creator>
  <cp:lastModifiedBy>Mr. Parth</cp:lastModifiedBy>
  <cp:revision>50</cp:revision>
  <dcterms:created xsi:type="dcterms:W3CDTF">2006-08-16T00:00:00Z</dcterms:created>
  <dcterms:modified xsi:type="dcterms:W3CDTF">2026-03-08T08:31:14Z</dcterms:modified>
  <dc:identifier>DAG2sVwpMpw</dc:identifier>
</cp:coreProperties>
</file>